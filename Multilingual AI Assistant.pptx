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3"/>
  </p:notesMasterIdLst>
  <p:sldIdLst>
    <p:sldId id="256" r:id="rId3"/>
    <p:sldId id="258" r:id="rId4"/>
    <p:sldId id="261" r:id="rId5"/>
    <p:sldId id="267" r:id="rId6"/>
    <p:sldId id="262" r:id="rId7"/>
    <p:sldId id="297" r:id="rId8"/>
    <p:sldId id="299" r:id="rId9"/>
    <p:sldId id="298" r:id="rId10"/>
    <p:sldId id="263" r:id="rId11"/>
    <p:sldId id="300" r:id="rId12"/>
  </p:sldIdLst>
  <p:sldSz cx="9144000" cy="5143500" type="screen16x9"/>
  <p:notesSz cx="6858000" cy="9144000"/>
  <p:embeddedFontLst>
    <p:embeddedFont>
      <p:font typeface="Anaheim" panose="020B0604020202020204" charset="0"/>
      <p:regular r:id="rId14"/>
      <p:bold r:id="rId15"/>
    </p:embeddedFont>
    <p:embeddedFont>
      <p:font typeface="Bebas Neue" panose="020B0606020202050201" pitchFamily="34" charset="0"/>
      <p:regular r:id="rId16"/>
    </p:embeddedFont>
    <p:embeddedFont>
      <p:font typeface="Hanken Grotesk" panose="020B0604020202020204" charset="0"/>
      <p:regular r:id="rId17"/>
      <p:bold r:id="rId18"/>
      <p:italic r:id="rId19"/>
      <p:boldItalic r:id="rId20"/>
    </p:embeddedFon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Raleway Black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5D59A-E131-4539-82A7-0FAC27744114}" v="263" dt="2026-07-28T19:08:03.716"/>
  </p1510:revLst>
</p1510:revInfo>
</file>

<file path=ppt/tableStyles.xml><?xml version="1.0" encoding="utf-8"?>
<a:tblStyleLst xmlns:a="http://schemas.openxmlformats.org/drawingml/2006/main" def="{76E8C818-D3C4-4F39-B6FF-FC8132F1474B}">
  <a:tblStyle styleId="{76E8C818-D3C4-4F39-B6FF-FC8132F147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63F32A-F2D2-4A18-8F24-C0574913BDA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67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40878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avLst/>
                <a:gdLst/>
                <a:ahLst/>
                <a:cxnLst/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avLst/>
                <a:gdLst/>
                <a:ahLst/>
                <a:cxnLst/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avLst/>
                <a:gdLst/>
                <a:ahLst/>
                <a:cxnLst/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023446" y="1879406"/>
            <a:ext cx="4352143" cy="11981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Multilingual AI Assistant for Telecom Egypt</a:t>
            </a:r>
            <a:endParaRPr lang="en-US" sz="240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RAG, Voice AI &amp; Document Intelligence</a:t>
            </a:r>
            <a:endParaRPr lang="en-US"/>
          </a:p>
        </p:txBody>
      </p:sp>
      <p:sp>
        <p:nvSpPr>
          <p:cNvPr id="664" name="Google Shape;664;p28"/>
          <p:cNvSpPr/>
          <p:nvPr/>
        </p:nvSpPr>
        <p:spPr>
          <a:xfrm rot="16200000">
            <a:off x="689075" y="2416920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5" name="Rectangle 34"/>
          <p:cNvSpPr/>
          <p:nvPr/>
        </p:nvSpPr>
        <p:spPr>
          <a:xfrm>
            <a:off x="1175134" y="4413336"/>
            <a:ext cx="2879314" cy="307777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457200" indent="-304800">
              <a:buClr>
                <a:schemeClr val="dk1"/>
              </a:buClr>
              <a:buSzPts val="1200"/>
            </a:pPr>
            <a:r>
              <a:rPr lang="en-US" dirty="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Presented by </a:t>
            </a:r>
            <a:r>
              <a:rPr lang="en-US" dirty="0" err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Abdelrahman</a:t>
            </a:r>
            <a:r>
              <a:rPr lang="en-US" dirty="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 txBox="1">
            <a:spLocks noGrp="1"/>
          </p:cNvSpPr>
          <p:nvPr>
            <p:ph type="subTitle" idx="8"/>
          </p:nvPr>
        </p:nvSpPr>
        <p:spPr>
          <a:xfrm>
            <a:off x="2437958" y="1665614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709" name="Google Shape;70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1604370" y="1096115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1" name="Google Shape;711;p30"/>
          <p:cNvSpPr txBox="1">
            <a:spLocks noGrp="1"/>
          </p:cNvSpPr>
          <p:nvPr>
            <p:ph type="title" idx="3"/>
          </p:nvPr>
        </p:nvSpPr>
        <p:spPr>
          <a:xfrm>
            <a:off x="1604370" y="2799207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12" name="Google Shape;712;p30"/>
          <p:cNvSpPr txBox="1">
            <a:spLocks noGrp="1"/>
          </p:cNvSpPr>
          <p:nvPr>
            <p:ph type="title" idx="4"/>
          </p:nvPr>
        </p:nvSpPr>
        <p:spPr>
          <a:xfrm>
            <a:off x="1604370" y="1663812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13" name="Google Shape;713;p30"/>
          <p:cNvSpPr txBox="1">
            <a:spLocks noGrp="1"/>
          </p:cNvSpPr>
          <p:nvPr>
            <p:ph type="title" idx="5"/>
          </p:nvPr>
        </p:nvSpPr>
        <p:spPr>
          <a:xfrm>
            <a:off x="1604370" y="3366905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1604370" y="2231510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15" name="Google Shape;715;p30"/>
          <p:cNvSpPr txBox="1">
            <a:spLocks noGrp="1"/>
          </p:cNvSpPr>
          <p:nvPr>
            <p:ph type="title" idx="7"/>
          </p:nvPr>
        </p:nvSpPr>
        <p:spPr>
          <a:xfrm>
            <a:off x="1604370" y="3934602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16" name="Google Shape;716;p30"/>
          <p:cNvSpPr txBox="1">
            <a:spLocks noGrp="1"/>
          </p:cNvSpPr>
          <p:nvPr>
            <p:ph type="subTitle" idx="1"/>
          </p:nvPr>
        </p:nvSpPr>
        <p:spPr>
          <a:xfrm>
            <a:off x="2437958" y="109791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17" name="Google Shape;717;p30"/>
          <p:cNvSpPr txBox="1">
            <a:spLocks noGrp="1"/>
          </p:cNvSpPr>
          <p:nvPr>
            <p:ph type="subTitle" idx="9"/>
          </p:nvPr>
        </p:nvSpPr>
        <p:spPr>
          <a:xfrm>
            <a:off x="2437958" y="2233313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718" name="Google Shape;718;p30"/>
          <p:cNvSpPr txBox="1">
            <a:spLocks noGrp="1"/>
          </p:cNvSpPr>
          <p:nvPr>
            <p:ph type="subTitle" idx="13"/>
          </p:nvPr>
        </p:nvSpPr>
        <p:spPr>
          <a:xfrm>
            <a:off x="2437955" y="2801013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&amp; Deployment</a:t>
            </a:r>
            <a:endParaRPr/>
          </a:p>
        </p:txBody>
      </p:sp>
      <p:sp>
        <p:nvSpPr>
          <p:cNvPr id="719" name="Google Shape;719;p30"/>
          <p:cNvSpPr txBox="1">
            <a:spLocks noGrp="1"/>
          </p:cNvSpPr>
          <p:nvPr>
            <p:ph type="subTitle" idx="14"/>
          </p:nvPr>
        </p:nvSpPr>
        <p:spPr>
          <a:xfrm>
            <a:off x="2437955" y="3368712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720" name="Google Shape;720;p30"/>
          <p:cNvSpPr txBox="1">
            <a:spLocks noGrp="1"/>
          </p:cNvSpPr>
          <p:nvPr>
            <p:ph type="subTitle" idx="15"/>
          </p:nvPr>
        </p:nvSpPr>
        <p:spPr>
          <a:xfrm>
            <a:off x="2437955" y="3936411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Conclusion</a:t>
            </a:r>
            <a:endParaRPr/>
          </a:p>
        </p:txBody>
      </p:sp>
      <p:grpSp>
        <p:nvGrpSpPr>
          <p:cNvPr id="721" name="Google Shape;721;p30"/>
          <p:cNvGrpSpPr/>
          <p:nvPr/>
        </p:nvGrpSpPr>
        <p:grpSpPr>
          <a:xfrm>
            <a:off x="486906" y="1743153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3"/>
          <p:cNvSpPr txBox="1">
            <a:spLocks noGrp="1"/>
          </p:cNvSpPr>
          <p:nvPr>
            <p:ph type="subTitle" idx="4"/>
          </p:nvPr>
        </p:nvSpPr>
        <p:spPr>
          <a:xfrm>
            <a:off x="4802944" y="2078494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Solution</a:t>
            </a:r>
            <a:endParaRPr dirty="0"/>
          </a:p>
        </p:txBody>
      </p:sp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2" name="Google Shape;762;p33"/>
          <p:cNvSpPr txBox="1">
            <a:spLocks noGrp="1"/>
          </p:cNvSpPr>
          <p:nvPr>
            <p:ph type="subTitle" idx="1"/>
          </p:nvPr>
        </p:nvSpPr>
        <p:spPr>
          <a:xfrm>
            <a:off x="5032512" y="2474651"/>
            <a:ext cx="2610900" cy="12682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fully local AI assistant that answers customer questions in Arabic, English, and Egyptian dialect — through voice and text — with citation-backed answers grounded in company documents.</a:t>
            </a:r>
            <a:endParaRPr/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Telecom Egypt receives thousands of daily customer inquiries covering internet, billing, and technical support. Human agents repeat the same answers, slowing response times and raising costs.</a:t>
            </a:r>
            <a:endParaRPr dirty="0"/>
          </a:p>
        </p:txBody>
      </p:sp>
      <p:sp>
        <p:nvSpPr>
          <p:cNvPr id="764" name="Google Shape;764;p33"/>
          <p:cNvSpPr txBox="1">
            <a:spLocks noGrp="1"/>
          </p:cNvSpPr>
          <p:nvPr>
            <p:ph type="subTitle" idx="3"/>
          </p:nvPr>
        </p:nvSpPr>
        <p:spPr>
          <a:xfrm>
            <a:off x="1573733" y="2082713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Problem</a:t>
            </a:r>
            <a:endParaRPr dirty="0"/>
          </a:p>
        </p:txBody>
      </p:sp>
      <p:sp>
        <p:nvSpPr>
          <p:cNvPr id="765" name="Google Shape;765;p33"/>
          <p:cNvSpPr/>
          <p:nvPr/>
        </p:nvSpPr>
        <p:spPr>
          <a:xfrm>
            <a:off x="6025214" y="1737588"/>
            <a:ext cx="345150" cy="344900"/>
          </a:xfrm>
          <a:custGeom>
            <a:avLst/>
            <a:gdLst/>
            <a:ahLst/>
            <a:cxnLst/>
            <a:rect l="l" t="t" r="r" b="b"/>
            <a:pathLst>
              <a:path w="13806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3"/>
          <p:cNvSpPr/>
          <p:nvPr/>
        </p:nvSpPr>
        <p:spPr>
          <a:xfrm>
            <a:off x="2782907" y="1737588"/>
            <a:ext cx="345150" cy="345125"/>
          </a:xfrm>
          <a:custGeom>
            <a:avLst/>
            <a:gdLst/>
            <a:ahLst/>
            <a:cxnLst/>
            <a:rect l="l" t="t" r="r" b="b"/>
            <a:pathLst>
              <a:path w="13806" h="13805" extrusionOk="0">
                <a:moveTo>
                  <a:pt x="2547" y="808"/>
                </a:moveTo>
                <a:cubicBezTo>
                  <a:pt x="2991" y="808"/>
                  <a:pt x="3355" y="1170"/>
                  <a:pt x="3355" y="1616"/>
                </a:cubicBezTo>
                <a:cubicBezTo>
                  <a:pt x="3355" y="2059"/>
                  <a:pt x="2991" y="2421"/>
                  <a:pt x="2547" y="2421"/>
                </a:cubicBezTo>
                <a:cubicBezTo>
                  <a:pt x="2104" y="2421"/>
                  <a:pt x="1742" y="2059"/>
                  <a:pt x="1742" y="1616"/>
                </a:cubicBezTo>
                <a:cubicBezTo>
                  <a:pt x="1742" y="1170"/>
                  <a:pt x="2104" y="808"/>
                  <a:pt x="2547" y="808"/>
                </a:cubicBezTo>
                <a:close/>
                <a:moveTo>
                  <a:pt x="11233" y="808"/>
                </a:moveTo>
                <a:cubicBezTo>
                  <a:pt x="11676" y="808"/>
                  <a:pt x="12038" y="1170"/>
                  <a:pt x="12038" y="1616"/>
                </a:cubicBezTo>
                <a:cubicBezTo>
                  <a:pt x="12038" y="2059"/>
                  <a:pt x="11676" y="2421"/>
                  <a:pt x="11233" y="2421"/>
                </a:cubicBezTo>
                <a:cubicBezTo>
                  <a:pt x="10789" y="2421"/>
                  <a:pt x="10425" y="2059"/>
                  <a:pt x="10425" y="1616"/>
                </a:cubicBezTo>
                <a:cubicBezTo>
                  <a:pt x="10425" y="1170"/>
                  <a:pt x="10789" y="808"/>
                  <a:pt x="11233" y="808"/>
                </a:cubicBezTo>
                <a:close/>
                <a:moveTo>
                  <a:pt x="3097" y="3229"/>
                </a:moveTo>
                <a:cubicBezTo>
                  <a:pt x="3762" y="3229"/>
                  <a:pt x="4312" y="3776"/>
                  <a:pt x="4312" y="4444"/>
                </a:cubicBezTo>
                <a:lnTo>
                  <a:pt x="4312" y="4853"/>
                </a:lnTo>
                <a:lnTo>
                  <a:pt x="805" y="4853"/>
                </a:lnTo>
                <a:lnTo>
                  <a:pt x="805" y="4444"/>
                </a:lnTo>
                <a:cubicBezTo>
                  <a:pt x="805" y="3776"/>
                  <a:pt x="1355" y="3229"/>
                  <a:pt x="2023" y="3229"/>
                </a:cubicBezTo>
                <a:close/>
                <a:moveTo>
                  <a:pt x="11782" y="3229"/>
                </a:moveTo>
                <a:cubicBezTo>
                  <a:pt x="12447" y="3229"/>
                  <a:pt x="12997" y="3776"/>
                  <a:pt x="12997" y="4444"/>
                </a:cubicBezTo>
                <a:lnTo>
                  <a:pt x="12997" y="4853"/>
                </a:lnTo>
                <a:lnTo>
                  <a:pt x="9491" y="4853"/>
                </a:lnTo>
                <a:lnTo>
                  <a:pt x="9491" y="4444"/>
                </a:lnTo>
                <a:cubicBezTo>
                  <a:pt x="9491" y="3776"/>
                  <a:pt x="10029" y="3229"/>
                  <a:pt x="10705" y="3229"/>
                </a:cubicBezTo>
                <a:close/>
                <a:moveTo>
                  <a:pt x="6497" y="3229"/>
                </a:moveTo>
                <a:lnTo>
                  <a:pt x="6497" y="5473"/>
                </a:lnTo>
                <a:cubicBezTo>
                  <a:pt x="6006" y="5613"/>
                  <a:pt x="5611" y="5998"/>
                  <a:pt x="5470" y="6500"/>
                </a:cubicBezTo>
                <a:lnTo>
                  <a:pt x="2968" y="6500"/>
                </a:lnTo>
                <a:lnTo>
                  <a:pt x="2968" y="5658"/>
                </a:lnTo>
                <a:lnTo>
                  <a:pt x="4721" y="5658"/>
                </a:lnTo>
                <a:cubicBezTo>
                  <a:pt x="4943" y="5658"/>
                  <a:pt x="5120" y="5484"/>
                  <a:pt x="5120" y="5249"/>
                </a:cubicBezTo>
                <a:lnTo>
                  <a:pt x="5120" y="4444"/>
                </a:lnTo>
                <a:cubicBezTo>
                  <a:pt x="5120" y="3986"/>
                  <a:pt x="4968" y="3565"/>
                  <a:pt x="4710" y="3229"/>
                </a:cubicBezTo>
                <a:close/>
                <a:moveTo>
                  <a:pt x="9081" y="3229"/>
                </a:moveTo>
                <a:cubicBezTo>
                  <a:pt x="8837" y="3565"/>
                  <a:pt x="8685" y="3986"/>
                  <a:pt x="8685" y="4444"/>
                </a:cubicBezTo>
                <a:lnTo>
                  <a:pt x="8685" y="5249"/>
                </a:lnTo>
                <a:cubicBezTo>
                  <a:pt x="8685" y="5484"/>
                  <a:pt x="8859" y="5658"/>
                  <a:pt x="9081" y="5658"/>
                </a:cubicBezTo>
                <a:lnTo>
                  <a:pt x="10834" y="5658"/>
                </a:lnTo>
                <a:lnTo>
                  <a:pt x="10834" y="6500"/>
                </a:lnTo>
                <a:lnTo>
                  <a:pt x="8321" y="6500"/>
                </a:lnTo>
                <a:cubicBezTo>
                  <a:pt x="8180" y="5998"/>
                  <a:pt x="7796" y="5613"/>
                  <a:pt x="7305" y="5473"/>
                </a:cubicBezTo>
                <a:lnTo>
                  <a:pt x="7305" y="3229"/>
                </a:lnTo>
                <a:close/>
                <a:moveTo>
                  <a:pt x="6884" y="6231"/>
                </a:moveTo>
                <a:cubicBezTo>
                  <a:pt x="7257" y="6231"/>
                  <a:pt x="7563" y="6525"/>
                  <a:pt x="7563" y="6898"/>
                </a:cubicBezTo>
                <a:cubicBezTo>
                  <a:pt x="7563" y="7271"/>
                  <a:pt x="7257" y="7577"/>
                  <a:pt x="6884" y="7577"/>
                </a:cubicBezTo>
                <a:cubicBezTo>
                  <a:pt x="6522" y="7577"/>
                  <a:pt x="6217" y="7271"/>
                  <a:pt x="6217" y="6898"/>
                </a:cubicBezTo>
                <a:cubicBezTo>
                  <a:pt x="6217" y="6525"/>
                  <a:pt x="6522" y="6231"/>
                  <a:pt x="6884" y="6231"/>
                </a:cubicBezTo>
                <a:close/>
                <a:moveTo>
                  <a:pt x="2547" y="8943"/>
                </a:moveTo>
                <a:cubicBezTo>
                  <a:pt x="2991" y="8943"/>
                  <a:pt x="3355" y="9316"/>
                  <a:pt x="3355" y="9762"/>
                </a:cubicBezTo>
                <a:cubicBezTo>
                  <a:pt x="3355" y="10206"/>
                  <a:pt x="2991" y="10568"/>
                  <a:pt x="2547" y="10568"/>
                </a:cubicBezTo>
                <a:cubicBezTo>
                  <a:pt x="2104" y="10568"/>
                  <a:pt x="1742" y="10206"/>
                  <a:pt x="1742" y="9762"/>
                </a:cubicBezTo>
                <a:cubicBezTo>
                  <a:pt x="1742" y="9316"/>
                  <a:pt x="2104" y="8943"/>
                  <a:pt x="2547" y="8943"/>
                </a:cubicBezTo>
                <a:close/>
                <a:moveTo>
                  <a:pt x="5470" y="7308"/>
                </a:moveTo>
                <a:cubicBezTo>
                  <a:pt x="5611" y="7799"/>
                  <a:pt x="6006" y="8183"/>
                  <a:pt x="6497" y="8323"/>
                </a:cubicBezTo>
                <a:lnTo>
                  <a:pt x="6497" y="10568"/>
                </a:lnTo>
                <a:lnTo>
                  <a:pt x="3961" y="10568"/>
                </a:lnTo>
                <a:cubicBezTo>
                  <a:pt x="4101" y="10323"/>
                  <a:pt x="4172" y="10054"/>
                  <a:pt x="4172" y="9762"/>
                </a:cubicBezTo>
                <a:cubicBezTo>
                  <a:pt x="4172" y="9002"/>
                  <a:pt x="3658" y="8371"/>
                  <a:pt x="2968" y="8194"/>
                </a:cubicBezTo>
                <a:lnTo>
                  <a:pt x="2968" y="7308"/>
                </a:lnTo>
                <a:close/>
                <a:moveTo>
                  <a:pt x="10834" y="7308"/>
                </a:moveTo>
                <a:lnTo>
                  <a:pt x="10834" y="8194"/>
                </a:lnTo>
                <a:cubicBezTo>
                  <a:pt x="10133" y="8371"/>
                  <a:pt x="9620" y="9002"/>
                  <a:pt x="9620" y="9762"/>
                </a:cubicBezTo>
                <a:cubicBezTo>
                  <a:pt x="9620" y="10054"/>
                  <a:pt x="9701" y="10323"/>
                  <a:pt x="9841" y="10568"/>
                </a:cubicBezTo>
                <a:lnTo>
                  <a:pt x="7305" y="10568"/>
                </a:lnTo>
                <a:lnTo>
                  <a:pt x="7305" y="8323"/>
                </a:lnTo>
                <a:cubicBezTo>
                  <a:pt x="7796" y="8183"/>
                  <a:pt x="8180" y="7799"/>
                  <a:pt x="8321" y="7308"/>
                </a:cubicBezTo>
                <a:close/>
                <a:moveTo>
                  <a:pt x="11233" y="8943"/>
                </a:moveTo>
                <a:cubicBezTo>
                  <a:pt x="11676" y="8943"/>
                  <a:pt x="12038" y="9316"/>
                  <a:pt x="12038" y="9762"/>
                </a:cubicBezTo>
                <a:cubicBezTo>
                  <a:pt x="12038" y="10206"/>
                  <a:pt x="11676" y="10568"/>
                  <a:pt x="11233" y="10568"/>
                </a:cubicBezTo>
                <a:cubicBezTo>
                  <a:pt x="10789" y="10568"/>
                  <a:pt x="10425" y="10206"/>
                  <a:pt x="10425" y="9762"/>
                </a:cubicBezTo>
                <a:cubicBezTo>
                  <a:pt x="10425" y="9316"/>
                  <a:pt x="10789" y="8943"/>
                  <a:pt x="11233" y="8943"/>
                </a:cubicBezTo>
                <a:close/>
                <a:moveTo>
                  <a:pt x="3097" y="11375"/>
                </a:moveTo>
                <a:cubicBezTo>
                  <a:pt x="3762" y="11375"/>
                  <a:pt x="4312" y="11925"/>
                  <a:pt x="4312" y="12590"/>
                </a:cubicBezTo>
                <a:lnTo>
                  <a:pt x="4312" y="12989"/>
                </a:lnTo>
                <a:lnTo>
                  <a:pt x="805" y="12989"/>
                </a:lnTo>
                <a:lnTo>
                  <a:pt x="805" y="12590"/>
                </a:lnTo>
                <a:cubicBezTo>
                  <a:pt x="805" y="11925"/>
                  <a:pt x="1355" y="11375"/>
                  <a:pt x="2023" y="11375"/>
                </a:cubicBezTo>
                <a:close/>
                <a:moveTo>
                  <a:pt x="11782" y="11375"/>
                </a:moveTo>
                <a:cubicBezTo>
                  <a:pt x="12447" y="11375"/>
                  <a:pt x="12997" y="11925"/>
                  <a:pt x="12997" y="12590"/>
                </a:cubicBezTo>
                <a:lnTo>
                  <a:pt x="12997" y="12989"/>
                </a:lnTo>
                <a:lnTo>
                  <a:pt x="9491" y="12989"/>
                </a:lnTo>
                <a:lnTo>
                  <a:pt x="9491" y="12590"/>
                </a:lnTo>
                <a:cubicBezTo>
                  <a:pt x="9491" y="11925"/>
                  <a:pt x="10029" y="11375"/>
                  <a:pt x="10705" y="11375"/>
                </a:cubicBezTo>
                <a:close/>
                <a:moveTo>
                  <a:pt x="2545" y="1"/>
                </a:moveTo>
                <a:cubicBezTo>
                  <a:pt x="1660" y="1"/>
                  <a:pt x="945" y="732"/>
                  <a:pt x="945" y="1616"/>
                </a:cubicBezTo>
                <a:cubicBezTo>
                  <a:pt x="945" y="1978"/>
                  <a:pt x="1063" y="2303"/>
                  <a:pt x="1263" y="2572"/>
                </a:cubicBezTo>
                <a:cubicBezTo>
                  <a:pt x="513" y="2878"/>
                  <a:pt x="0" y="3602"/>
                  <a:pt x="0" y="4444"/>
                </a:cubicBezTo>
                <a:lnTo>
                  <a:pt x="0" y="5249"/>
                </a:lnTo>
                <a:cubicBezTo>
                  <a:pt x="0" y="5484"/>
                  <a:pt x="174" y="5658"/>
                  <a:pt x="396" y="5658"/>
                </a:cubicBezTo>
                <a:lnTo>
                  <a:pt x="2149" y="5658"/>
                </a:lnTo>
                <a:lnTo>
                  <a:pt x="2149" y="8194"/>
                </a:lnTo>
                <a:cubicBezTo>
                  <a:pt x="1462" y="8371"/>
                  <a:pt x="945" y="9002"/>
                  <a:pt x="945" y="9762"/>
                </a:cubicBezTo>
                <a:cubicBezTo>
                  <a:pt x="945" y="10113"/>
                  <a:pt x="1063" y="10453"/>
                  <a:pt x="1263" y="10719"/>
                </a:cubicBezTo>
                <a:cubicBezTo>
                  <a:pt x="513" y="11025"/>
                  <a:pt x="0" y="11749"/>
                  <a:pt x="0" y="12590"/>
                </a:cubicBezTo>
                <a:lnTo>
                  <a:pt x="0" y="13398"/>
                </a:lnTo>
                <a:cubicBezTo>
                  <a:pt x="0" y="13620"/>
                  <a:pt x="174" y="13805"/>
                  <a:pt x="396" y="13805"/>
                </a:cubicBezTo>
                <a:lnTo>
                  <a:pt x="4721" y="13805"/>
                </a:lnTo>
                <a:cubicBezTo>
                  <a:pt x="4943" y="13805"/>
                  <a:pt x="5120" y="13620"/>
                  <a:pt x="5120" y="13398"/>
                </a:cubicBezTo>
                <a:lnTo>
                  <a:pt x="5120" y="12590"/>
                </a:lnTo>
                <a:cubicBezTo>
                  <a:pt x="5120" y="12136"/>
                  <a:pt x="4968" y="11715"/>
                  <a:pt x="4710" y="11375"/>
                </a:cubicBezTo>
                <a:lnTo>
                  <a:pt x="9081" y="11375"/>
                </a:lnTo>
                <a:cubicBezTo>
                  <a:pt x="8837" y="11715"/>
                  <a:pt x="8685" y="12136"/>
                  <a:pt x="8685" y="12590"/>
                </a:cubicBezTo>
                <a:lnTo>
                  <a:pt x="8685" y="13398"/>
                </a:lnTo>
                <a:cubicBezTo>
                  <a:pt x="8685" y="13620"/>
                  <a:pt x="8859" y="13805"/>
                  <a:pt x="9081" y="13805"/>
                </a:cubicBezTo>
                <a:lnTo>
                  <a:pt x="13396" y="13805"/>
                </a:lnTo>
                <a:cubicBezTo>
                  <a:pt x="13617" y="13805"/>
                  <a:pt x="13805" y="13620"/>
                  <a:pt x="13805" y="13398"/>
                </a:cubicBezTo>
                <a:lnTo>
                  <a:pt x="13805" y="12590"/>
                </a:lnTo>
                <a:cubicBezTo>
                  <a:pt x="13805" y="11749"/>
                  <a:pt x="13278" y="11025"/>
                  <a:pt x="12543" y="10719"/>
                </a:cubicBezTo>
                <a:cubicBezTo>
                  <a:pt x="12739" y="10453"/>
                  <a:pt x="12857" y="10113"/>
                  <a:pt x="12857" y="9762"/>
                </a:cubicBezTo>
                <a:cubicBezTo>
                  <a:pt x="12857" y="9002"/>
                  <a:pt x="12344" y="8371"/>
                  <a:pt x="11642" y="8194"/>
                </a:cubicBezTo>
                <a:lnTo>
                  <a:pt x="11642" y="5658"/>
                </a:lnTo>
                <a:lnTo>
                  <a:pt x="13396" y="5658"/>
                </a:lnTo>
                <a:cubicBezTo>
                  <a:pt x="13617" y="5658"/>
                  <a:pt x="13805" y="5484"/>
                  <a:pt x="13805" y="5249"/>
                </a:cubicBezTo>
                <a:lnTo>
                  <a:pt x="13805" y="4444"/>
                </a:lnTo>
                <a:cubicBezTo>
                  <a:pt x="13805" y="3602"/>
                  <a:pt x="13278" y="2878"/>
                  <a:pt x="12543" y="2572"/>
                </a:cubicBezTo>
                <a:cubicBezTo>
                  <a:pt x="12753" y="2281"/>
                  <a:pt x="12879" y="1919"/>
                  <a:pt x="12857" y="1532"/>
                </a:cubicBezTo>
                <a:cubicBezTo>
                  <a:pt x="12809" y="679"/>
                  <a:pt x="12108" y="14"/>
                  <a:pt x="11266" y="3"/>
                </a:cubicBezTo>
                <a:cubicBezTo>
                  <a:pt x="11258" y="3"/>
                  <a:pt x="11249" y="3"/>
                  <a:pt x="11240" y="3"/>
                </a:cubicBezTo>
                <a:cubicBezTo>
                  <a:pt x="10341" y="3"/>
                  <a:pt x="9620" y="724"/>
                  <a:pt x="9620" y="1616"/>
                </a:cubicBezTo>
                <a:cubicBezTo>
                  <a:pt x="9620" y="1908"/>
                  <a:pt x="9701" y="2188"/>
                  <a:pt x="9841" y="2421"/>
                </a:cubicBezTo>
                <a:lnTo>
                  <a:pt x="3961" y="2421"/>
                </a:lnTo>
                <a:cubicBezTo>
                  <a:pt x="4113" y="2163"/>
                  <a:pt x="4183" y="1860"/>
                  <a:pt x="4172" y="1546"/>
                </a:cubicBezTo>
                <a:cubicBezTo>
                  <a:pt x="4138" y="715"/>
                  <a:pt x="3459" y="36"/>
                  <a:pt x="2629" y="3"/>
                </a:cubicBezTo>
                <a:cubicBezTo>
                  <a:pt x="2601" y="1"/>
                  <a:pt x="2573" y="1"/>
                  <a:pt x="254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>
                <a:latin typeface="Raleway Black"/>
                <a:ea typeface="Raleway Black"/>
                <a:cs typeface="Raleway Black"/>
                <a:sym typeface="Raleway Black"/>
              </a:rPr>
              <a:t>System Architecture</a:t>
            </a: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graphicFrame>
        <p:nvGraphicFramePr>
          <p:cNvPr id="954" name="Google Shape;954;p40"/>
          <p:cNvGraphicFramePr/>
          <p:nvPr>
            <p:extLst>
              <p:ext uri="{D42A27DB-BD31-4B8C-83A1-F6EECF244321}">
                <p14:modId xmlns:p14="http://schemas.microsoft.com/office/powerpoint/2010/main" val="2463922998"/>
              </p:ext>
            </p:extLst>
          </p:nvPr>
        </p:nvGraphicFramePr>
        <p:xfrm>
          <a:off x="616586" y="1515396"/>
          <a:ext cx="7704000" cy="2117965"/>
        </p:xfrm>
        <a:graphic>
          <a:graphicData uri="http://schemas.openxmlformats.org/drawingml/2006/table">
            <a:tbl>
              <a:tblPr>
                <a:tableStyleId>{76E8C818-D3C4-4F39-B6FF-FC8132F1474B}</a:tableStyleId>
              </a:tblPr>
              <a:tblGrid>
                <a:gridCol w="215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LAYER</a:t>
                      </a:r>
                      <a:endParaRPr sz="1800">
                        <a:solidFill>
                          <a:schemeClr val="accent3"/>
                        </a:solidFill>
                        <a:latin typeface="Bebas Neue"/>
                        <a:sym typeface="Bebas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3"/>
                          </a:solidFill>
                          <a:sym typeface="Raleway"/>
                        </a:rPr>
                        <a:t>DESCRIPTION</a:t>
                      </a:r>
                      <a:endParaRPr sz="1600" b="1">
                        <a:solidFill>
                          <a:schemeClr val="accent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accent3"/>
                          </a:solidFill>
                          <a:sym typeface="Hanken Grotesk"/>
                        </a:rPr>
                        <a:t>Frontend</a:t>
                      </a:r>
                      <a:endParaRPr sz="14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 err="1">
                          <a:solidFill>
                            <a:schemeClr val="accent3"/>
                          </a:solidFill>
                          <a:sym typeface="Hanken Grotesk"/>
                        </a:rPr>
                        <a:t>Streamlit</a:t>
                      </a:r>
                      <a:r>
                        <a:rPr lang="en" sz="1100" dirty="0">
                          <a:solidFill>
                            <a:schemeClr val="accent3"/>
                          </a:solidFill>
                          <a:sym typeface="Hanken Grotesk"/>
                        </a:rPr>
                        <a:t> — chat interface, voice recorder, file upload</a:t>
                      </a:r>
                      <a:endParaRPr sz="11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accent3"/>
                          </a:solidFill>
                          <a:sym typeface="Hanken Grotesk"/>
                        </a:rPr>
                        <a:t>Backend</a:t>
                      </a:r>
                      <a:endParaRPr sz="14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 err="1">
                          <a:solidFill>
                            <a:schemeClr val="accent3"/>
                          </a:solidFill>
                          <a:sym typeface="Hanken Grotesk"/>
                        </a:rPr>
                        <a:t>FastAPI</a:t>
                      </a:r>
                      <a:r>
                        <a:rPr lang="en" sz="1100" dirty="0">
                          <a:solidFill>
                            <a:schemeClr val="accent3"/>
                          </a:solidFill>
                          <a:sym typeface="Hanken Grotesk"/>
                        </a:rPr>
                        <a:t> REST API — request processing, session management</a:t>
                      </a:r>
                      <a:endParaRPr sz="11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accent3"/>
                          </a:solidFill>
                          <a:sym typeface="Hanken Grotesk"/>
                        </a:rPr>
                        <a:t>AI Services</a:t>
                      </a:r>
                      <a:endParaRPr sz="14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3"/>
                          </a:solidFill>
                          <a:sym typeface="Hanken Grotesk"/>
                        </a:rPr>
                        <a:t>Faster-Whisper,</a:t>
                      </a:r>
                      <a:r>
                        <a:rPr lang="en" sz="1100" dirty="0">
                          <a:solidFill>
                            <a:schemeClr val="accent3"/>
                          </a:solidFill>
                        </a:rPr>
                        <a:t> BGE</a:t>
                      </a:r>
                      <a:r>
                        <a:rPr lang="en" sz="1100" b="0" i="0" u="none" strike="noStrike" cap="none" noProof="0" dirty="0">
                          <a:solidFill>
                            <a:schemeClr val="accent3"/>
                          </a:solidFill>
                          <a:latin typeface="Arial"/>
                          <a:cs typeface="Arial"/>
                        </a:rPr>
                        <a:t>-m3</a:t>
                      </a:r>
                      <a:r>
                        <a:rPr lang="en" sz="1100" b="0" i="0" u="none" strike="noStrike" cap="none" dirty="0">
                          <a:solidFill>
                            <a:schemeClr val="accent3"/>
                          </a:solidFill>
                          <a:latin typeface="Arial"/>
                          <a:cs typeface="Arial"/>
                          <a:sym typeface="Arial"/>
                        </a:rPr>
                        <a:t> ,</a:t>
                      </a:r>
                      <a:r>
                        <a:rPr lang="en" sz="1100" b="0" i="0" u="none" strike="noStrike" cap="none">
                          <a:solidFill>
                            <a:schemeClr val="accent3"/>
                          </a:solidFill>
                          <a:latin typeface="Arial"/>
                          <a:cs typeface="Arial"/>
                          <a:sym typeface="Hanken Grotesk"/>
                        </a:rPr>
                        <a:t>Qwen2.5 </a:t>
                      </a:r>
                      <a:r>
                        <a:rPr lang="en" sz="1100" b="0" i="0" u="none" strike="noStrike" cap="none">
                          <a:solidFill>
                            <a:schemeClr val="accent3"/>
                          </a:solidFill>
                          <a:latin typeface="Arial"/>
                          <a:cs typeface="Arial"/>
                        </a:rPr>
                        <a:t>7b </a:t>
                      </a:r>
                      <a:r>
                        <a:rPr lang="en" sz="1100" b="0" i="0" u="none" strike="noStrike" cap="none">
                          <a:solidFill>
                            <a:schemeClr val="accent3"/>
                          </a:solidFill>
                          <a:latin typeface="Arial"/>
                          <a:cs typeface="Arial"/>
                          <a:sym typeface="Hanken Grotesk"/>
                        </a:rPr>
                        <a:t>LLM, Piper TTS, EasyO</a:t>
                      </a:r>
                      <a:r>
                        <a:rPr lang="en" sz="1100" dirty="0">
                          <a:solidFill>
                            <a:schemeClr val="accent3"/>
                          </a:solidFill>
                          <a:sym typeface="Hanken Grotesk"/>
                        </a:rPr>
                        <a:t>CR</a:t>
                      </a:r>
                      <a:endParaRPr lang="en-US" sz="1100">
                        <a:solidFill>
                          <a:schemeClr val="accent3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accent3"/>
                          </a:solidFill>
                          <a:sym typeface="Hanken Grotesk"/>
                        </a:rPr>
                        <a:t>Knowledge Layer</a:t>
                      </a:r>
                      <a:endParaRPr sz="14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 err="1">
                          <a:solidFill>
                            <a:schemeClr val="accent3"/>
                          </a:solidFill>
                          <a:sym typeface="Hanken Grotesk"/>
                        </a:rPr>
                        <a:t>Qdrant</a:t>
                      </a:r>
                      <a:r>
                        <a:rPr lang="en" sz="1100" dirty="0">
                          <a:solidFill>
                            <a:schemeClr val="accent3"/>
                          </a:solidFill>
                          <a:sym typeface="Hanken Grotesk"/>
                        </a:rPr>
                        <a:t> vector database — Telecom Egypt KB &amp; uploaded docs</a:t>
                      </a:r>
                      <a:endParaRPr sz="11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Pipeline</a:t>
            </a:r>
            <a:endParaRPr/>
          </a:p>
        </p:txBody>
      </p:sp>
      <p:sp>
        <p:nvSpPr>
          <p:cNvPr id="772" name="Google Shape;772;p34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Pipeline</a:t>
            </a:r>
            <a:endParaRPr/>
          </a:p>
        </p:txBody>
      </p:sp>
      <p:sp>
        <p:nvSpPr>
          <p:cNvPr id="773" name="Google Shape;773;p34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Pipeline</a:t>
            </a:r>
            <a:endParaRPr/>
          </a:p>
        </p:txBody>
      </p:sp>
      <p:sp>
        <p:nvSpPr>
          <p:cNvPr id="774" name="Google Shape;774;p34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query is embedded (BGE-M3), matched against Qdrant, and answered by Qwen2.5 grounded in retrieved context.</a:t>
            </a:r>
            <a:endParaRPr/>
          </a:p>
        </p:txBody>
      </p:sp>
      <p:sp>
        <p:nvSpPr>
          <p:cNvPr id="775" name="Google Shape;775;p34"/>
          <p:cNvSpPr txBox="1">
            <a:spLocks noGrp="1"/>
          </p:cNvSpPr>
          <p:nvPr>
            <p:ph type="subTitle" idx="2"/>
          </p:nvPr>
        </p:nvSpPr>
        <p:spPr>
          <a:xfrm>
            <a:off x="3501728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Faster-Whisper transcribes speech and detects language, then Piper TTS speaks the generated response back to the caller.</a:t>
            </a:r>
            <a:endParaRPr/>
          </a:p>
        </p:txBody>
      </p:sp>
      <p:sp>
        <p:nvSpPr>
          <p:cNvPr id="776" name="Google Shape;776;p34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Uploaded PDFs, DOCX, TXT, and images are OCR-processed, chunked, embedded, and stored per-session for grounded answers.</a:t>
            </a:r>
            <a:endParaRPr/>
          </a:p>
        </p:txBody>
      </p:sp>
      <p:sp>
        <p:nvSpPr>
          <p:cNvPr id="777" name="Google Shape;777;p34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 Pipeline</a:t>
            </a:r>
            <a:endParaRPr/>
          </a:p>
        </p:txBody>
      </p:sp>
      <p:grpSp>
        <p:nvGrpSpPr>
          <p:cNvPr id="778" name="Google Shape;778;p34"/>
          <p:cNvGrpSpPr/>
          <p:nvPr/>
        </p:nvGrpSpPr>
        <p:grpSpPr>
          <a:xfrm>
            <a:off x="5989625" y="1730775"/>
            <a:ext cx="289600" cy="345150"/>
            <a:chOff x="4801988" y="3797375"/>
            <a:chExt cx="289600" cy="345150"/>
          </a:xfrm>
        </p:grpSpPr>
        <p:sp>
          <p:nvSpPr>
            <p:cNvPr id="779" name="Google Shape;779;p34"/>
            <p:cNvSpPr/>
            <p:nvPr/>
          </p:nvSpPr>
          <p:spPr>
            <a:xfrm>
              <a:off x="4916238" y="3885675"/>
              <a:ext cx="60825" cy="60775"/>
            </a:xfrm>
            <a:custGeom>
              <a:avLst/>
              <a:gdLst/>
              <a:ahLst/>
              <a:cxnLst/>
              <a:rect l="l" t="t" r="r" b="b"/>
              <a:pathLst>
                <a:path w="2433" h="2431" extrusionOk="0">
                  <a:moveTo>
                    <a:pt x="1215" y="806"/>
                  </a:moveTo>
                  <a:cubicBezTo>
                    <a:pt x="1436" y="806"/>
                    <a:pt x="1613" y="994"/>
                    <a:pt x="1613" y="1215"/>
                  </a:cubicBezTo>
                  <a:cubicBezTo>
                    <a:pt x="1613" y="1437"/>
                    <a:pt x="1436" y="1614"/>
                    <a:pt x="1215" y="1614"/>
                  </a:cubicBezTo>
                  <a:cubicBezTo>
                    <a:pt x="993" y="1614"/>
                    <a:pt x="805" y="1437"/>
                    <a:pt x="805" y="1215"/>
                  </a:cubicBezTo>
                  <a:cubicBezTo>
                    <a:pt x="805" y="994"/>
                    <a:pt x="993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1"/>
                    <a:pt x="0" y="1215"/>
                  </a:cubicBezTo>
                  <a:cubicBezTo>
                    <a:pt x="0" y="1883"/>
                    <a:pt x="539" y="2430"/>
                    <a:pt x="1215" y="2430"/>
                  </a:cubicBezTo>
                  <a:cubicBezTo>
                    <a:pt x="1882" y="2430"/>
                    <a:pt x="2432" y="1883"/>
                    <a:pt x="2432" y="1215"/>
                  </a:cubicBezTo>
                  <a:cubicBezTo>
                    <a:pt x="2432" y="551"/>
                    <a:pt x="1882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4801988" y="3797375"/>
              <a:ext cx="289600" cy="345150"/>
            </a:xfrm>
            <a:custGeom>
              <a:avLst/>
              <a:gdLst/>
              <a:ahLst/>
              <a:cxnLst/>
              <a:rect l="l" t="t" r="r" b="b"/>
              <a:pathLst>
                <a:path w="11584" h="13806" extrusionOk="0">
                  <a:moveTo>
                    <a:pt x="10731" y="11643"/>
                  </a:moveTo>
                  <a:cubicBezTo>
                    <a:pt x="10579" y="12288"/>
                    <a:pt x="10074" y="12801"/>
                    <a:pt x="9432" y="12953"/>
                  </a:cubicBezTo>
                  <a:lnTo>
                    <a:pt x="9432" y="11643"/>
                  </a:lnTo>
                  <a:close/>
                  <a:moveTo>
                    <a:pt x="10111" y="809"/>
                  </a:moveTo>
                  <a:cubicBezTo>
                    <a:pt x="10472" y="809"/>
                    <a:pt x="10775" y="1112"/>
                    <a:pt x="10775" y="1488"/>
                  </a:cubicBezTo>
                  <a:lnTo>
                    <a:pt x="10775" y="10838"/>
                  </a:lnTo>
                  <a:lnTo>
                    <a:pt x="9022" y="10838"/>
                  </a:lnTo>
                  <a:cubicBezTo>
                    <a:pt x="8801" y="10838"/>
                    <a:pt x="8627" y="11026"/>
                    <a:pt x="8627" y="11247"/>
                  </a:cubicBezTo>
                  <a:lnTo>
                    <a:pt x="8627" y="13001"/>
                  </a:lnTo>
                  <a:lnTo>
                    <a:pt x="1473" y="13001"/>
                  </a:lnTo>
                  <a:cubicBezTo>
                    <a:pt x="1111" y="13001"/>
                    <a:pt x="805" y="12695"/>
                    <a:pt x="805" y="12322"/>
                  </a:cubicBezTo>
                  <a:lnTo>
                    <a:pt x="805" y="1488"/>
                  </a:lnTo>
                  <a:cubicBezTo>
                    <a:pt x="805" y="1112"/>
                    <a:pt x="1111" y="809"/>
                    <a:pt x="1473" y="809"/>
                  </a:cubicBezTo>
                  <a:close/>
                  <a:moveTo>
                    <a:pt x="1473" y="1"/>
                  </a:moveTo>
                  <a:cubicBezTo>
                    <a:pt x="654" y="1"/>
                    <a:pt x="0" y="669"/>
                    <a:pt x="0" y="1488"/>
                  </a:cubicBezTo>
                  <a:lnTo>
                    <a:pt x="0" y="12322"/>
                  </a:lnTo>
                  <a:cubicBezTo>
                    <a:pt x="0" y="13141"/>
                    <a:pt x="654" y="13806"/>
                    <a:pt x="1473" y="13806"/>
                  </a:cubicBezTo>
                  <a:lnTo>
                    <a:pt x="9022" y="13806"/>
                  </a:lnTo>
                  <a:cubicBezTo>
                    <a:pt x="10439" y="13806"/>
                    <a:pt x="11583" y="12661"/>
                    <a:pt x="11583" y="11247"/>
                  </a:cubicBezTo>
                  <a:lnTo>
                    <a:pt x="11583" y="1488"/>
                  </a:lnTo>
                  <a:cubicBezTo>
                    <a:pt x="11583" y="669"/>
                    <a:pt x="10930" y="1"/>
                    <a:pt x="10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4841688" y="3838625"/>
              <a:ext cx="210125" cy="269500"/>
            </a:xfrm>
            <a:custGeom>
              <a:avLst/>
              <a:gdLst/>
              <a:ahLst/>
              <a:cxnLst/>
              <a:rect l="l" t="t" r="r" b="b"/>
              <a:pathLst>
                <a:path w="8405" h="10780" extrusionOk="0">
                  <a:moveTo>
                    <a:pt x="4477" y="805"/>
                  </a:moveTo>
                  <a:lnTo>
                    <a:pt x="4503" y="1122"/>
                  </a:lnTo>
                  <a:cubicBezTo>
                    <a:pt x="4503" y="1263"/>
                    <a:pt x="4606" y="1392"/>
                    <a:pt x="4735" y="1437"/>
                  </a:cubicBezTo>
                  <a:cubicBezTo>
                    <a:pt x="4957" y="1507"/>
                    <a:pt x="5167" y="1625"/>
                    <a:pt x="5344" y="1776"/>
                  </a:cubicBezTo>
                  <a:cubicBezTo>
                    <a:pt x="5412" y="1839"/>
                    <a:pt x="5506" y="1873"/>
                    <a:pt x="5600" y="1873"/>
                  </a:cubicBezTo>
                  <a:cubicBezTo>
                    <a:pt x="5665" y="1873"/>
                    <a:pt x="5730" y="1857"/>
                    <a:pt x="5787" y="1824"/>
                  </a:cubicBezTo>
                  <a:lnTo>
                    <a:pt x="6031" y="1695"/>
                  </a:lnTo>
                  <a:lnTo>
                    <a:pt x="6326" y="2197"/>
                  </a:lnTo>
                  <a:lnTo>
                    <a:pt x="6057" y="2374"/>
                  </a:lnTo>
                  <a:cubicBezTo>
                    <a:pt x="5939" y="2455"/>
                    <a:pt x="5880" y="2595"/>
                    <a:pt x="5905" y="2736"/>
                  </a:cubicBezTo>
                  <a:cubicBezTo>
                    <a:pt x="5939" y="2853"/>
                    <a:pt x="5950" y="2980"/>
                    <a:pt x="5950" y="3097"/>
                  </a:cubicBezTo>
                  <a:cubicBezTo>
                    <a:pt x="5950" y="3215"/>
                    <a:pt x="5939" y="3344"/>
                    <a:pt x="5905" y="3459"/>
                  </a:cubicBezTo>
                  <a:cubicBezTo>
                    <a:pt x="5880" y="3600"/>
                    <a:pt x="5939" y="3740"/>
                    <a:pt x="6057" y="3821"/>
                  </a:cubicBezTo>
                  <a:lnTo>
                    <a:pt x="6326" y="3998"/>
                  </a:lnTo>
                  <a:lnTo>
                    <a:pt x="6031" y="4489"/>
                  </a:lnTo>
                  <a:lnTo>
                    <a:pt x="5751" y="4349"/>
                  </a:lnTo>
                  <a:cubicBezTo>
                    <a:pt x="5701" y="4321"/>
                    <a:pt x="5647" y="4308"/>
                    <a:pt x="5593" y="4308"/>
                  </a:cubicBezTo>
                  <a:cubicBezTo>
                    <a:pt x="5511" y="4308"/>
                    <a:pt x="5429" y="4339"/>
                    <a:pt x="5367" y="4396"/>
                  </a:cubicBezTo>
                  <a:cubicBezTo>
                    <a:pt x="5190" y="4559"/>
                    <a:pt x="4994" y="4677"/>
                    <a:pt x="4769" y="4747"/>
                  </a:cubicBezTo>
                  <a:cubicBezTo>
                    <a:pt x="4618" y="4803"/>
                    <a:pt x="4503" y="4943"/>
                    <a:pt x="4503" y="5109"/>
                  </a:cubicBezTo>
                  <a:lnTo>
                    <a:pt x="4477" y="5389"/>
                  </a:lnTo>
                  <a:lnTo>
                    <a:pt x="3905" y="5389"/>
                  </a:lnTo>
                  <a:lnTo>
                    <a:pt x="3894" y="5061"/>
                  </a:lnTo>
                  <a:cubicBezTo>
                    <a:pt x="3883" y="4921"/>
                    <a:pt x="3787" y="4803"/>
                    <a:pt x="3647" y="4758"/>
                  </a:cubicBezTo>
                  <a:cubicBezTo>
                    <a:pt x="3425" y="4688"/>
                    <a:pt x="3226" y="4570"/>
                    <a:pt x="3052" y="4419"/>
                  </a:cubicBezTo>
                  <a:cubicBezTo>
                    <a:pt x="2976" y="4356"/>
                    <a:pt x="2884" y="4322"/>
                    <a:pt x="2789" y="4322"/>
                  </a:cubicBezTo>
                  <a:cubicBezTo>
                    <a:pt x="2724" y="4322"/>
                    <a:pt x="2658" y="4338"/>
                    <a:pt x="2595" y="4371"/>
                  </a:cubicBezTo>
                  <a:lnTo>
                    <a:pt x="2351" y="4489"/>
                  </a:lnTo>
                  <a:lnTo>
                    <a:pt x="2070" y="3998"/>
                  </a:lnTo>
                  <a:lnTo>
                    <a:pt x="2340" y="3821"/>
                  </a:lnTo>
                  <a:cubicBezTo>
                    <a:pt x="2455" y="3740"/>
                    <a:pt x="2514" y="3600"/>
                    <a:pt x="2480" y="3459"/>
                  </a:cubicBezTo>
                  <a:cubicBezTo>
                    <a:pt x="2455" y="3344"/>
                    <a:pt x="2443" y="3215"/>
                    <a:pt x="2443" y="3097"/>
                  </a:cubicBezTo>
                  <a:cubicBezTo>
                    <a:pt x="2443" y="2980"/>
                    <a:pt x="2455" y="2853"/>
                    <a:pt x="2480" y="2736"/>
                  </a:cubicBezTo>
                  <a:cubicBezTo>
                    <a:pt x="2514" y="2595"/>
                    <a:pt x="2455" y="2455"/>
                    <a:pt x="2340" y="2374"/>
                  </a:cubicBezTo>
                  <a:lnTo>
                    <a:pt x="2070" y="2197"/>
                  </a:lnTo>
                  <a:lnTo>
                    <a:pt x="2351" y="1695"/>
                  </a:lnTo>
                  <a:lnTo>
                    <a:pt x="2643" y="1846"/>
                  </a:lnTo>
                  <a:cubicBezTo>
                    <a:pt x="2694" y="1874"/>
                    <a:pt x="2749" y="1887"/>
                    <a:pt x="2803" y="1887"/>
                  </a:cubicBezTo>
                  <a:cubicBezTo>
                    <a:pt x="2885" y="1887"/>
                    <a:pt x="2966" y="1857"/>
                    <a:pt x="3030" y="1801"/>
                  </a:cubicBezTo>
                  <a:cubicBezTo>
                    <a:pt x="3204" y="1625"/>
                    <a:pt x="3414" y="1507"/>
                    <a:pt x="3647" y="1425"/>
                  </a:cubicBezTo>
                  <a:cubicBezTo>
                    <a:pt x="3787" y="1392"/>
                    <a:pt x="3883" y="1263"/>
                    <a:pt x="3894" y="1122"/>
                  </a:cubicBezTo>
                  <a:lnTo>
                    <a:pt x="3905" y="805"/>
                  </a:lnTo>
                  <a:close/>
                  <a:moveTo>
                    <a:pt x="1229" y="7002"/>
                  </a:moveTo>
                  <a:cubicBezTo>
                    <a:pt x="1450" y="7002"/>
                    <a:pt x="1638" y="7188"/>
                    <a:pt x="1638" y="7412"/>
                  </a:cubicBezTo>
                  <a:cubicBezTo>
                    <a:pt x="1638" y="7634"/>
                    <a:pt x="1450" y="7808"/>
                    <a:pt x="1229" y="7808"/>
                  </a:cubicBezTo>
                  <a:cubicBezTo>
                    <a:pt x="1007" y="7808"/>
                    <a:pt x="819" y="7634"/>
                    <a:pt x="819" y="7412"/>
                  </a:cubicBezTo>
                  <a:cubicBezTo>
                    <a:pt x="819" y="7188"/>
                    <a:pt x="1007" y="7002"/>
                    <a:pt x="1229" y="7002"/>
                  </a:cubicBezTo>
                  <a:close/>
                  <a:moveTo>
                    <a:pt x="7154" y="7002"/>
                  </a:moveTo>
                  <a:cubicBezTo>
                    <a:pt x="7389" y="7002"/>
                    <a:pt x="7563" y="7188"/>
                    <a:pt x="7563" y="7412"/>
                  </a:cubicBezTo>
                  <a:cubicBezTo>
                    <a:pt x="7563" y="7634"/>
                    <a:pt x="7389" y="7808"/>
                    <a:pt x="7154" y="7808"/>
                  </a:cubicBezTo>
                  <a:cubicBezTo>
                    <a:pt x="6932" y="7808"/>
                    <a:pt x="6758" y="7634"/>
                    <a:pt x="6758" y="7412"/>
                  </a:cubicBezTo>
                  <a:cubicBezTo>
                    <a:pt x="6758" y="7188"/>
                    <a:pt x="6932" y="7002"/>
                    <a:pt x="7154" y="7002"/>
                  </a:cubicBezTo>
                  <a:close/>
                  <a:moveTo>
                    <a:pt x="4197" y="9165"/>
                  </a:moveTo>
                  <a:cubicBezTo>
                    <a:pt x="4418" y="9165"/>
                    <a:pt x="4595" y="9339"/>
                    <a:pt x="4595" y="9561"/>
                  </a:cubicBezTo>
                  <a:cubicBezTo>
                    <a:pt x="4595" y="9782"/>
                    <a:pt x="4418" y="9970"/>
                    <a:pt x="4197" y="9970"/>
                  </a:cubicBezTo>
                  <a:cubicBezTo>
                    <a:pt x="3975" y="9970"/>
                    <a:pt x="3787" y="9782"/>
                    <a:pt x="3787" y="9561"/>
                  </a:cubicBezTo>
                  <a:cubicBezTo>
                    <a:pt x="3787" y="9339"/>
                    <a:pt x="3975" y="9165"/>
                    <a:pt x="4197" y="9165"/>
                  </a:cubicBezTo>
                  <a:close/>
                  <a:moveTo>
                    <a:pt x="3532" y="0"/>
                  </a:moveTo>
                  <a:cubicBezTo>
                    <a:pt x="3310" y="0"/>
                    <a:pt x="3134" y="163"/>
                    <a:pt x="3122" y="385"/>
                  </a:cubicBezTo>
                  <a:lnTo>
                    <a:pt x="3111" y="783"/>
                  </a:lnTo>
                  <a:cubicBezTo>
                    <a:pt x="2982" y="842"/>
                    <a:pt x="2864" y="912"/>
                    <a:pt x="2749" y="993"/>
                  </a:cubicBezTo>
                  <a:lnTo>
                    <a:pt x="2385" y="805"/>
                  </a:lnTo>
                  <a:cubicBezTo>
                    <a:pt x="2326" y="773"/>
                    <a:pt x="2263" y="757"/>
                    <a:pt x="2201" y="757"/>
                  </a:cubicBezTo>
                  <a:cubicBezTo>
                    <a:pt x="2064" y="757"/>
                    <a:pt x="1931" y="831"/>
                    <a:pt x="1860" y="960"/>
                  </a:cubicBezTo>
                  <a:lnTo>
                    <a:pt x="1181" y="2127"/>
                  </a:lnTo>
                  <a:cubicBezTo>
                    <a:pt x="1077" y="2315"/>
                    <a:pt x="1136" y="2559"/>
                    <a:pt x="1310" y="2677"/>
                  </a:cubicBezTo>
                  <a:lnTo>
                    <a:pt x="1650" y="2887"/>
                  </a:lnTo>
                  <a:cubicBezTo>
                    <a:pt x="1650" y="2957"/>
                    <a:pt x="1638" y="3027"/>
                    <a:pt x="1638" y="3097"/>
                  </a:cubicBezTo>
                  <a:cubicBezTo>
                    <a:pt x="1638" y="3168"/>
                    <a:pt x="1650" y="3238"/>
                    <a:pt x="1650" y="3308"/>
                  </a:cubicBezTo>
                  <a:lnTo>
                    <a:pt x="1310" y="3518"/>
                  </a:lnTo>
                  <a:cubicBezTo>
                    <a:pt x="1136" y="3636"/>
                    <a:pt x="1077" y="3880"/>
                    <a:pt x="1181" y="4068"/>
                  </a:cubicBezTo>
                  <a:lnTo>
                    <a:pt x="1860" y="5224"/>
                  </a:lnTo>
                  <a:cubicBezTo>
                    <a:pt x="1933" y="5356"/>
                    <a:pt x="2071" y="5430"/>
                    <a:pt x="2211" y="5430"/>
                  </a:cubicBezTo>
                  <a:cubicBezTo>
                    <a:pt x="2270" y="5430"/>
                    <a:pt x="2330" y="5417"/>
                    <a:pt x="2385" y="5389"/>
                  </a:cubicBezTo>
                  <a:lnTo>
                    <a:pt x="2749" y="5201"/>
                  </a:lnTo>
                  <a:cubicBezTo>
                    <a:pt x="2864" y="5283"/>
                    <a:pt x="2982" y="5353"/>
                    <a:pt x="3111" y="5412"/>
                  </a:cubicBezTo>
                  <a:lnTo>
                    <a:pt x="3122" y="5810"/>
                  </a:lnTo>
                  <a:cubicBezTo>
                    <a:pt x="3134" y="6032"/>
                    <a:pt x="3310" y="6194"/>
                    <a:pt x="3532" y="6194"/>
                  </a:cubicBezTo>
                  <a:lnTo>
                    <a:pt x="3801" y="6194"/>
                  </a:lnTo>
                  <a:lnTo>
                    <a:pt x="3801" y="7002"/>
                  </a:lnTo>
                  <a:lnTo>
                    <a:pt x="2385" y="7002"/>
                  </a:lnTo>
                  <a:cubicBezTo>
                    <a:pt x="2216" y="6527"/>
                    <a:pt x="1761" y="6193"/>
                    <a:pt x="1222" y="6193"/>
                  </a:cubicBezTo>
                  <a:cubicBezTo>
                    <a:pt x="1205" y="6193"/>
                    <a:pt x="1187" y="6194"/>
                    <a:pt x="1170" y="6194"/>
                  </a:cubicBezTo>
                  <a:cubicBezTo>
                    <a:pt x="550" y="6231"/>
                    <a:pt x="48" y="6744"/>
                    <a:pt x="25" y="7364"/>
                  </a:cubicBezTo>
                  <a:cubicBezTo>
                    <a:pt x="0" y="8054"/>
                    <a:pt x="550" y="8627"/>
                    <a:pt x="1240" y="8627"/>
                  </a:cubicBezTo>
                  <a:cubicBezTo>
                    <a:pt x="1767" y="8627"/>
                    <a:pt x="2211" y="8287"/>
                    <a:pt x="2385" y="7819"/>
                  </a:cubicBezTo>
                  <a:lnTo>
                    <a:pt x="3801" y="7819"/>
                  </a:lnTo>
                  <a:lnTo>
                    <a:pt x="3801" y="8428"/>
                  </a:lnTo>
                  <a:cubicBezTo>
                    <a:pt x="3310" y="8604"/>
                    <a:pt x="2960" y="9081"/>
                    <a:pt x="2993" y="9631"/>
                  </a:cubicBezTo>
                  <a:cubicBezTo>
                    <a:pt x="3030" y="10251"/>
                    <a:pt x="3532" y="10753"/>
                    <a:pt x="4152" y="10778"/>
                  </a:cubicBezTo>
                  <a:cubicBezTo>
                    <a:pt x="4172" y="10779"/>
                    <a:pt x="4191" y="10780"/>
                    <a:pt x="4211" y="10780"/>
                  </a:cubicBezTo>
                  <a:cubicBezTo>
                    <a:pt x="4872" y="10780"/>
                    <a:pt x="5414" y="10231"/>
                    <a:pt x="5414" y="9561"/>
                  </a:cubicBezTo>
                  <a:cubicBezTo>
                    <a:pt x="5414" y="9036"/>
                    <a:pt x="5075" y="8590"/>
                    <a:pt x="4606" y="8428"/>
                  </a:cubicBezTo>
                  <a:lnTo>
                    <a:pt x="4606" y="7819"/>
                  </a:lnTo>
                  <a:lnTo>
                    <a:pt x="6020" y="7819"/>
                  </a:lnTo>
                  <a:cubicBezTo>
                    <a:pt x="6191" y="8294"/>
                    <a:pt x="6658" y="8628"/>
                    <a:pt x="7186" y="8628"/>
                  </a:cubicBezTo>
                  <a:cubicBezTo>
                    <a:pt x="7203" y="8628"/>
                    <a:pt x="7221" y="8627"/>
                    <a:pt x="7238" y="8627"/>
                  </a:cubicBezTo>
                  <a:cubicBezTo>
                    <a:pt x="7855" y="8590"/>
                    <a:pt x="8360" y="8077"/>
                    <a:pt x="8382" y="7457"/>
                  </a:cubicBezTo>
                  <a:cubicBezTo>
                    <a:pt x="8405" y="6767"/>
                    <a:pt x="7855" y="6194"/>
                    <a:pt x="7168" y="6194"/>
                  </a:cubicBezTo>
                  <a:cubicBezTo>
                    <a:pt x="6640" y="6194"/>
                    <a:pt x="6197" y="6534"/>
                    <a:pt x="6020" y="7002"/>
                  </a:cubicBezTo>
                  <a:lnTo>
                    <a:pt x="4606" y="7002"/>
                  </a:lnTo>
                  <a:lnTo>
                    <a:pt x="4606" y="6194"/>
                  </a:lnTo>
                  <a:lnTo>
                    <a:pt x="4876" y="6194"/>
                  </a:lnTo>
                  <a:cubicBezTo>
                    <a:pt x="5097" y="6194"/>
                    <a:pt x="5274" y="6032"/>
                    <a:pt x="5285" y="5810"/>
                  </a:cubicBezTo>
                  <a:lnTo>
                    <a:pt x="5296" y="5412"/>
                  </a:lnTo>
                  <a:cubicBezTo>
                    <a:pt x="5426" y="5353"/>
                    <a:pt x="5541" y="5283"/>
                    <a:pt x="5658" y="5201"/>
                  </a:cubicBezTo>
                  <a:lnTo>
                    <a:pt x="6020" y="5389"/>
                  </a:lnTo>
                  <a:cubicBezTo>
                    <a:pt x="6076" y="5417"/>
                    <a:pt x="6136" y="5430"/>
                    <a:pt x="6195" y="5430"/>
                  </a:cubicBezTo>
                  <a:cubicBezTo>
                    <a:pt x="6335" y="5430"/>
                    <a:pt x="6473" y="5356"/>
                    <a:pt x="6548" y="5224"/>
                  </a:cubicBezTo>
                  <a:lnTo>
                    <a:pt x="7224" y="4068"/>
                  </a:lnTo>
                  <a:cubicBezTo>
                    <a:pt x="7330" y="3880"/>
                    <a:pt x="7271" y="3636"/>
                    <a:pt x="7098" y="3518"/>
                  </a:cubicBezTo>
                  <a:lnTo>
                    <a:pt x="6758" y="3308"/>
                  </a:lnTo>
                  <a:cubicBezTo>
                    <a:pt x="6758" y="3238"/>
                    <a:pt x="6769" y="3168"/>
                    <a:pt x="6769" y="3097"/>
                  </a:cubicBezTo>
                  <a:cubicBezTo>
                    <a:pt x="6769" y="3027"/>
                    <a:pt x="6758" y="2957"/>
                    <a:pt x="6758" y="2887"/>
                  </a:cubicBezTo>
                  <a:lnTo>
                    <a:pt x="7098" y="2677"/>
                  </a:lnTo>
                  <a:cubicBezTo>
                    <a:pt x="7271" y="2559"/>
                    <a:pt x="7330" y="2315"/>
                    <a:pt x="7224" y="2127"/>
                  </a:cubicBezTo>
                  <a:lnTo>
                    <a:pt x="6548" y="960"/>
                  </a:lnTo>
                  <a:cubicBezTo>
                    <a:pt x="6475" y="831"/>
                    <a:pt x="6342" y="757"/>
                    <a:pt x="6205" y="757"/>
                  </a:cubicBezTo>
                  <a:cubicBezTo>
                    <a:pt x="6143" y="757"/>
                    <a:pt x="6079" y="773"/>
                    <a:pt x="6020" y="805"/>
                  </a:cubicBezTo>
                  <a:lnTo>
                    <a:pt x="5658" y="993"/>
                  </a:lnTo>
                  <a:cubicBezTo>
                    <a:pt x="5541" y="912"/>
                    <a:pt x="5426" y="842"/>
                    <a:pt x="5296" y="783"/>
                  </a:cubicBezTo>
                  <a:lnTo>
                    <a:pt x="5285" y="385"/>
                  </a:lnTo>
                  <a:cubicBezTo>
                    <a:pt x="5274" y="163"/>
                    <a:pt x="5097" y="0"/>
                    <a:pt x="4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82" name="Google Shape;782;p34"/>
          <p:cNvGrpSpPr/>
          <p:nvPr/>
        </p:nvGrpSpPr>
        <p:grpSpPr>
          <a:xfrm>
            <a:off x="3577913" y="1730775"/>
            <a:ext cx="347475" cy="345150"/>
            <a:chOff x="4744113" y="3243975"/>
            <a:chExt cx="347475" cy="345150"/>
          </a:xfrm>
        </p:grpSpPr>
        <p:sp>
          <p:nvSpPr>
            <p:cNvPr id="783" name="Google Shape;783;p34"/>
            <p:cNvSpPr/>
            <p:nvPr/>
          </p:nvSpPr>
          <p:spPr>
            <a:xfrm>
              <a:off x="4744113" y="3339725"/>
              <a:ext cx="182950" cy="249400"/>
            </a:xfrm>
            <a:custGeom>
              <a:avLst/>
              <a:gdLst/>
              <a:ahLst/>
              <a:cxnLst/>
              <a:rect l="l" t="t" r="r" b="b"/>
              <a:pathLst>
                <a:path w="7318" h="9976" extrusionOk="0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4935238" y="3434175"/>
              <a:ext cx="156350" cy="154950"/>
            </a:xfrm>
            <a:custGeom>
              <a:avLst/>
              <a:gdLst/>
              <a:ahLst/>
              <a:cxnLst/>
              <a:rect l="l" t="t" r="r" b="b"/>
              <a:pathLst>
                <a:path w="6254" h="6198" extrusionOk="0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4983138" y="3481225"/>
              <a:ext cx="60550" cy="60825"/>
            </a:xfrm>
            <a:custGeom>
              <a:avLst/>
              <a:gdLst/>
              <a:ahLst/>
              <a:cxnLst/>
              <a:rect l="l" t="t" r="r" b="b"/>
              <a:pathLst>
                <a:path w="2422" h="2433" extrusionOk="0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4826238" y="3243975"/>
              <a:ext cx="231950" cy="173375"/>
            </a:xfrm>
            <a:custGeom>
              <a:avLst/>
              <a:gdLst/>
              <a:ahLst/>
              <a:cxnLst/>
              <a:rect l="l" t="t" r="r" b="b"/>
              <a:pathLst>
                <a:path w="9278" h="6935" extrusionOk="0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87" name="Google Shape;787;p34"/>
          <p:cNvGrpSpPr/>
          <p:nvPr/>
        </p:nvGrpSpPr>
        <p:grpSpPr>
          <a:xfrm>
            <a:off x="1166213" y="1730850"/>
            <a:ext cx="346325" cy="345000"/>
            <a:chOff x="1725463" y="2681050"/>
            <a:chExt cx="346325" cy="345000"/>
          </a:xfrm>
        </p:grpSpPr>
        <p:sp>
          <p:nvSpPr>
            <p:cNvPr id="788" name="Google Shape;788;p34"/>
            <p:cNvSpPr/>
            <p:nvPr/>
          </p:nvSpPr>
          <p:spPr>
            <a:xfrm>
              <a:off x="1807588" y="2762650"/>
              <a:ext cx="181800" cy="181800"/>
            </a:xfrm>
            <a:custGeom>
              <a:avLst/>
              <a:gdLst/>
              <a:ahLst/>
              <a:cxnLst/>
              <a:rect l="l" t="t" r="r" b="b"/>
              <a:pathLst>
                <a:path w="7272" h="7272" extrusionOk="0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1725463" y="2681050"/>
              <a:ext cx="346325" cy="345000"/>
            </a:xfrm>
            <a:custGeom>
              <a:avLst/>
              <a:gdLst/>
              <a:ahLst/>
              <a:cxnLst/>
              <a:rect l="l" t="t" r="r" b="b"/>
              <a:pathLst>
                <a:path w="13853" h="13800" extrusionOk="0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>
                <a:latin typeface="Raleway Black"/>
                <a:ea typeface="Raleway Black"/>
                <a:cs typeface="Raleway Black"/>
                <a:sym typeface="Raleway Black"/>
              </a:rPr>
              <a:t>Technology Stack</a:t>
            </a: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graphicFrame>
        <p:nvGraphicFramePr>
          <p:cNvPr id="954" name="Google Shape;954;p40"/>
          <p:cNvGraphicFramePr/>
          <p:nvPr>
            <p:extLst>
              <p:ext uri="{D42A27DB-BD31-4B8C-83A1-F6EECF244321}">
                <p14:modId xmlns:p14="http://schemas.microsoft.com/office/powerpoint/2010/main" val="1805347373"/>
              </p:ext>
            </p:extLst>
          </p:nvPr>
        </p:nvGraphicFramePr>
        <p:xfrm>
          <a:off x="720000" y="1161610"/>
          <a:ext cx="7704000" cy="3290075"/>
        </p:xfrm>
        <a:graphic>
          <a:graphicData uri="http://schemas.openxmlformats.org/drawingml/2006/table">
            <a:tbl>
              <a:tblPr>
                <a:tableStyleId>{76E8C818-D3C4-4F39-B6FF-FC8132F1474B}</a:tableStyleId>
              </a:tblPr>
              <a:tblGrid>
                <a:gridCol w="215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>
                          <a:solidFill>
                            <a:schemeClr val="accent3"/>
                          </a:solidFill>
                        </a:rPr>
                        <a:t>CATEGORY</a:t>
                      </a:r>
                      <a:endParaRPr sz="1800" dirty="0">
                        <a:solidFill>
                          <a:schemeClr val="accent3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accent3"/>
                          </a:solidFill>
                          <a:sym typeface="Raleway"/>
                        </a:rPr>
                        <a:t>TOOLS</a:t>
                      </a:r>
                      <a:endParaRPr sz="1200" b="1" dirty="0">
                        <a:solidFill>
                          <a:schemeClr val="accent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3"/>
                          </a:solidFill>
                          <a:sym typeface="Hanken Grotesk"/>
                        </a:rPr>
                        <a:t>AI</a:t>
                      </a:r>
                      <a:endParaRPr sz="1100" b="1" dirty="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Qwen2.5, BGE-M3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3"/>
                          </a:solidFill>
                          <a:sym typeface="Hanken Grotesk"/>
                        </a:rPr>
                        <a:t>Speech AI</a:t>
                      </a:r>
                      <a:endParaRPr sz="1100" b="1" dirty="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Faster Whisper, Piper TTS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sym typeface="Hanken Grotesk"/>
                        </a:rPr>
                        <a:t>Backend</a:t>
                      </a:r>
                      <a:endParaRPr sz="11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FastAPI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sym typeface="Hanken Grotesk"/>
                        </a:rPr>
                        <a:t>Frontend</a:t>
                      </a:r>
                      <a:endParaRPr sz="11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Streamlit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sym typeface="Hanken Grotesk"/>
                        </a:rPr>
                        <a:t>Database</a:t>
                      </a:r>
                      <a:endParaRPr sz="11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Qdrant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sym typeface="Hanken Grotesk"/>
                        </a:rPr>
                        <a:t>OCR &amp; Scraping</a:t>
                      </a:r>
                      <a:endParaRPr sz="11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EasyOCR, Playwright, BeautifulSoup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3"/>
                          </a:solidFill>
                          <a:sym typeface="Hanken Grotesk"/>
                        </a:rPr>
                        <a:t>Deployment</a:t>
                      </a:r>
                      <a:endParaRPr sz="1100" b="1" dirty="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3"/>
                          </a:solidFill>
                          <a:sym typeface="Hanken Grotesk"/>
                        </a:rPr>
                        <a:t>Docker, Docker Compose</a:t>
                      </a:r>
                      <a:endParaRPr sz="1000" dirty="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3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External Calls</a:t>
            </a:r>
            <a:endParaRPr/>
          </a:p>
        </p:txBody>
      </p:sp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On-Premise Deployment</a:t>
            </a:r>
            <a:endParaRPr/>
          </a:p>
        </p:txBody>
      </p:sp>
      <p:sp>
        <p:nvSpPr>
          <p:cNvPr id="762" name="Google Shape;762;p33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1829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All models — LLM, speech, and OCR — run locally on Telecom Egypt’s own infrastructure, so no customer data ever leaves the company network.</a:t>
            </a:r>
            <a:endParaRPr dirty="0"/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Frontend, backend, and AI services each run in isolated Docker containers, orchestrated with Docker Compose for reliable, repeatable deployment.</a:t>
            </a:r>
            <a:endParaRPr dirty="0"/>
          </a:p>
        </p:txBody>
      </p:sp>
      <p:sp>
        <p:nvSpPr>
          <p:cNvPr id="764" name="Google Shape;764;p33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Containers</a:t>
            </a:r>
            <a:endParaRPr/>
          </a:p>
        </p:txBody>
      </p:sp>
      <p:sp>
        <p:nvSpPr>
          <p:cNvPr id="765" name="Google Shape;765;p33"/>
          <p:cNvSpPr/>
          <p:nvPr/>
        </p:nvSpPr>
        <p:spPr>
          <a:xfrm>
            <a:off x="5680768" y="1799570"/>
            <a:ext cx="345150" cy="344900"/>
          </a:xfrm>
          <a:custGeom>
            <a:avLst/>
            <a:gdLst/>
            <a:ahLst/>
            <a:cxnLst/>
            <a:rect l="l" t="t" r="r" b="b"/>
            <a:pathLst>
              <a:path w="13806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3"/>
          <p:cNvSpPr/>
          <p:nvPr/>
        </p:nvSpPr>
        <p:spPr>
          <a:xfrm>
            <a:off x="2491169" y="1774506"/>
            <a:ext cx="345150" cy="345125"/>
          </a:xfrm>
          <a:custGeom>
            <a:avLst/>
            <a:gdLst/>
            <a:ahLst/>
            <a:cxnLst/>
            <a:rect l="l" t="t" r="r" b="b"/>
            <a:pathLst>
              <a:path w="13806" h="13805" extrusionOk="0">
                <a:moveTo>
                  <a:pt x="2547" y="808"/>
                </a:moveTo>
                <a:cubicBezTo>
                  <a:pt x="2991" y="808"/>
                  <a:pt x="3355" y="1170"/>
                  <a:pt x="3355" y="1616"/>
                </a:cubicBezTo>
                <a:cubicBezTo>
                  <a:pt x="3355" y="2059"/>
                  <a:pt x="2991" y="2421"/>
                  <a:pt x="2547" y="2421"/>
                </a:cubicBezTo>
                <a:cubicBezTo>
                  <a:pt x="2104" y="2421"/>
                  <a:pt x="1742" y="2059"/>
                  <a:pt x="1742" y="1616"/>
                </a:cubicBezTo>
                <a:cubicBezTo>
                  <a:pt x="1742" y="1170"/>
                  <a:pt x="2104" y="808"/>
                  <a:pt x="2547" y="808"/>
                </a:cubicBezTo>
                <a:close/>
                <a:moveTo>
                  <a:pt x="11233" y="808"/>
                </a:moveTo>
                <a:cubicBezTo>
                  <a:pt x="11676" y="808"/>
                  <a:pt x="12038" y="1170"/>
                  <a:pt x="12038" y="1616"/>
                </a:cubicBezTo>
                <a:cubicBezTo>
                  <a:pt x="12038" y="2059"/>
                  <a:pt x="11676" y="2421"/>
                  <a:pt x="11233" y="2421"/>
                </a:cubicBezTo>
                <a:cubicBezTo>
                  <a:pt x="10789" y="2421"/>
                  <a:pt x="10425" y="2059"/>
                  <a:pt x="10425" y="1616"/>
                </a:cubicBezTo>
                <a:cubicBezTo>
                  <a:pt x="10425" y="1170"/>
                  <a:pt x="10789" y="808"/>
                  <a:pt x="11233" y="808"/>
                </a:cubicBezTo>
                <a:close/>
                <a:moveTo>
                  <a:pt x="3097" y="3229"/>
                </a:moveTo>
                <a:cubicBezTo>
                  <a:pt x="3762" y="3229"/>
                  <a:pt x="4312" y="3776"/>
                  <a:pt x="4312" y="4444"/>
                </a:cubicBezTo>
                <a:lnTo>
                  <a:pt x="4312" y="4853"/>
                </a:lnTo>
                <a:lnTo>
                  <a:pt x="805" y="4853"/>
                </a:lnTo>
                <a:lnTo>
                  <a:pt x="805" y="4444"/>
                </a:lnTo>
                <a:cubicBezTo>
                  <a:pt x="805" y="3776"/>
                  <a:pt x="1355" y="3229"/>
                  <a:pt x="2023" y="3229"/>
                </a:cubicBezTo>
                <a:close/>
                <a:moveTo>
                  <a:pt x="11782" y="3229"/>
                </a:moveTo>
                <a:cubicBezTo>
                  <a:pt x="12447" y="3229"/>
                  <a:pt x="12997" y="3776"/>
                  <a:pt x="12997" y="4444"/>
                </a:cubicBezTo>
                <a:lnTo>
                  <a:pt x="12997" y="4853"/>
                </a:lnTo>
                <a:lnTo>
                  <a:pt x="9491" y="4853"/>
                </a:lnTo>
                <a:lnTo>
                  <a:pt x="9491" y="4444"/>
                </a:lnTo>
                <a:cubicBezTo>
                  <a:pt x="9491" y="3776"/>
                  <a:pt x="10029" y="3229"/>
                  <a:pt x="10705" y="3229"/>
                </a:cubicBezTo>
                <a:close/>
                <a:moveTo>
                  <a:pt x="6497" y="3229"/>
                </a:moveTo>
                <a:lnTo>
                  <a:pt x="6497" y="5473"/>
                </a:lnTo>
                <a:cubicBezTo>
                  <a:pt x="6006" y="5613"/>
                  <a:pt x="5611" y="5998"/>
                  <a:pt x="5470" y="6500"/>
                </a:cubicBezTo>
                <a:lnTo>
                  <a:pt x="2968" y="6500"/>
                </a:lnTo>
                <a:lnTo>
                  <a:pt x="2968" y="5658"/>
                </a:lnTo>
                <a:lnTo>
                  <a:pt x="4721" y="5658"/>
                </a:lnTo>
                <a:cubicBezTo>
                  <a:pt x="4943" y="5658"/>
                  <a:pt x="5120" y="5484"/>
                  <a:pt x="5120" y="5249"/>
                </a:cubicBezTo>
                <a:lnTo>
                  <a:pt x="5120" y="4444"/>
                </a:lnTo>
                <a:cubicBezTo>
                  <a:pt x="5120" y="3986"/>
                  <a:pt x="4968" y="3565"/>
                  <a:pt x="4710" y="3229"/>
                </a:cubicBezTo>
                <a:close/>
                <a:moveTo>
                  <a:pt x="9081" y="3229"/>
                </a:moveTo>
                <a:cubicBezTo>
                  <a:pt x="8837" y="3565"/>
                  <a:pt x="8685" y="3986"/>
                  <a:pt x="8685" y="4444"/>
                </a:cubicBezTo>
                <a:lnTo>
                  <a:pt x="8685" y="5249"/>
                </a:lnTo>
                <a:cubicBezTo>
                  <a:pt x="8685" y="5484"/>
                  <a:pt x="8859" y="5658"/>
                  <a:pt x="9081" y="5658"/>
                </a:cubicBezTo>
                <a:lnTo>
                  <a:pt x="10834" y="5658"/>
                </a:lnTo>
                <a:lnTo>
                  <a:pt x="10834" y="6500"/>
                </a:lnTo>
                <a:lnTo>
                  <a:pt x="8321" y="6500"/>
                </a:lnTo>
                <a:cubicBezTo>
                  <a:pt x="8180" y="5998"/>
                  <a:pt x="7796" y="5613"/>
                  <a:pt x="7305" y="5473"/>
                </a:cubicBezTo>
                <a:lnTo>
                  <a:pt x="7305" y="3229"/>
                </a:lnTo>
                <a:close/>
                <a:moveTo>
                  <a:pt x="6884" y="6231"/>
                </a:moveTo>
                <a:cubicBezTo>
                  <a:pt x="7257" y="6231"/>
                  <a:pt x="7563" y="6525"/>
                  <a:pt x="7563" y="6898"/>
                </a:cubicBezTo>
                <a:cubicBezTo>
                  <a:pt x="7563" y="7271"/>
                  <a:pt x="7257" y="7577"/>
                  <a:pt x="6884" y="7577"/>
                </a:cubicBezTo>
                <a:cubicBezTo>
                  <a:pt x="6522" y="7577"/>
                  <a:pt x="6217" y="7271"/>
                  <a:pt x="6217" y="6898"/>
                </a:cubicBezTo>
                <a:cubicBezTo>
                  <a:pt x="6217" y="6525"/>
                  <a:pt x="6522" y="6231"/>
                  <a:pt x="6884" y="6231"/>
                </a:cubicBezTo>
                <a:close/>
                <a:moveTo>
                  <a:pt x="2547" y="8943"/>
                </a:moveTo>
                <a:cubicBezTo>
                  <a:pt x="2991" y="8943"/>
                  <a:pt x="3355" y="9316"/>
                  <a:pt x="3355" y="9762"/>
                </a:cubicBezTo>
                <a:cubicBezTo>
                  <a:pt x="3355" y="10206"/>
                  <a:pt x="2991" y="10568"/>
                  <a:pt x="2547" y="10568"/>
                </a:cubicBezTo>
                <a:cubicBezTo>
                  <a:pt x="2104" y="10568"/>
                  <a:pt x="1742" y="10206"/>
                  <a:pt x="1742" y="9762"/>
                </a:cubicBezTo>
                <a:cubicBezTo>
                  <a:pt x="1742" y="9316"/>
                  <a:pt x="2104" y="8943"/>
                  <a:pt x="2547" y="8943"/>
                </a:cubicBezTo>
                <a:close/>
                <a:moveTo>
                  <a:pt x="5470" y="7308"/>
                </a:moveTo>
                <a:cubicBezTo>
                  <a:pt x="5611" y="7799"/>
                  <a:pt x="6006" y="8183"/>
                  <a:pt x="6497" y="8323"/>
                </a:cubicBezTo>
                <a:lnTo>
                  <a:pt x="6497" y="10568"/>
                </a:lnTo>
                <a:lnTo>
                  <a:pt x="3961" y="10568"/>
                </a:lnTo>
                <a:cubicBezTo>
                  <a:pt x="4101" y="10323"/>
                  <a:pt x="4172" y="10054"/>
                  <a:pt x="4172" y="9762"/>
                </a:cubicBezTo>
                <a:cubicBezTo>
                  <a:pt x="4172" y="9002"/>
                  <a:pt x="3658" y="8371"/>
                  <a:pt x="2968" y="8194"/>
                </a:cubicBezTo>
                <a:lnTo>
                  <a:pt x="2968" y="7308"/>
                </a:lnTo>
                <a:close/>
                <a:moveTo>
                  <a:pt x="10834" y="7308"/>
                </a:moveTo>
                <a:lnTo>
                  <a:pt x="10834" y="8194"/>
                </a:lnTo>
                <a:cubicBezTo>
                  <a:pt x="10133" y="8371"/>
                  <a:pt x="9620" y="9002"/>
                  <a:pt x="9620" y="9762"/>
                </a:cubicBezTo>
                <a:cubicBezTo>
                  <a:pt x="9620" y="10054"/>
                  <a:pt x="9701" y="10323"/>
                  <a:pt x="9841" y="10568"/>
                </a:cubicBezTo>
                <a:lnTo>
                  <a:pt x="7305" y="10568"/>
                </a:lnTo>
                <a:lnTo>
                  <a:pt x="7305" y="8323"/>
                </a:lnTo>
                <a:cubicBezTo>
                  <a:pt x="7796" y="8183"/>
                  <a:pt x="8180" y="7799"/>
                  <a:pt x="8321" y="7308"/>
                </a:cubicBezTo>
                <a:close/>
                <a:moveTo>
                  <a:pt x="11233" y="8943"/>
                </a:moveTo>
                <a:cubicBezTo>
                  <a:pt x="11676" y="8943"/>
                  <a:pt x="12038" y="9316"/>
                  <a:pt x="12038" y="9762"/>
                </a:cubicBezTo>
                <a:cubicBezTo>
                  <a:pt x="12038" y="10206"/>
                  <a:pt x="11676" y="10568"/>
                  <a:pt x="11233" y="10568"/>
                </a:cubicBezTo>
                <a:cubicBezTo>
                  <a:pt x="10789" y="10568"/>
                  <a:pt x="10425" y="10206"/>
                  <a:pt x="10425" y="9762"/>
                </a:cubicBezTo>
                <a:cubicBezTo>
                  <a:pt x="10425" y="9316"/>
                  <a:pt x="10789" y="8943"/>
                  <a:pt x="11233" y="8943"/>
                </a:cubicBezTo>
                <a:close/>
                <a:moveTo>
                  <a:pt x="3097" y="11375"/>
                </a:moveTo>
                <a:cubicBezTo>
                  <a:pt x="3762" y="11375"/>
                  <a:pt x="4312" y="11925"/>
                  <a:pt x="4312" y="12590"/>
                </a:cubicBezTo>
                <a:lnTo>
                  <a:pt x="4312" y="12989"/>
                </a:lnTo>
                <a:lnTo>
                  <a:pt x="805" y="12989"/>
                </a:lnTo>
                <a:lnTo>
                  <a:pt x="805" y="12590"/>
                </a:lnTo>
                <a:cubicBezTo>
                  <a:pt x="805" y="11925"/>
                  <a:pt x="1355" y="11375"/>
                  <a:pt x="2023" y="11375"/>
                </a:cubicBezTo>
                <a:close/>
                <a:moveTo>
                  <a:pt x="11782" y="11375"/>
                </a:moveTo>
                <a:cubicBezTo>
                  <a:pt x="12447" y="11375"/>
                  <a:pt x="12997" y="11925"/>
                  <a:pt x="12997" y="12590"/>
                </a:cubicBezTo>
                <a:lnTo>
                  <a:pt x="12997" y="12989"/>
                </a:lnTo>
                <a:lnTo>
                  <a:pt x="9491" y="12989"/>
                </a:lnTo>
                <a:lnTo>
                  <a:pt x="9491" y="12590"/>
                </a:lnTo>
                <a:cubicBezTo>
                  <a:pt x="9491" y="11925"/>
                  <a:pt x="10029" y="11375"/>
                  <a:pt x="10705" y="11375"/>
                </a:cubicBezTo>
                <a:close/>
                <a:moveTo>
                  <a:pt x="2545" y="1"/>
                </a:moveTo>
                <a:cubicBezTo>
                  <a:pt x="1660" y="1"/>
                  <a:pt x="945" y="732"/>
                  <a:pt x="945" y="1616"/>
                </a:cubicBezTo>
                <a:cubicBezTo>
                  <a:pt x="945" y="1978"/>
                  <a:pt x="1063" y="2303"/>
                  <a:pt x="1263" y="2572"/>
                </a:cubicBezTo>
                <a:cubicBezTo>
                  <a:pt x="513" y="2878"/>
                  <a:pt x="0" y="3602"/>
                  <a:pt x="0" y="4444"/>
                </a:cubicBezTo>
                <a:lnTo>
                  <a:pt x="0" y="5249"/>
                </a:lnTo>
                <a:cubicBezTo>
                  <a:pt x="0" y="5484"/>
                  <a:pt x="174" y="5658"/>
                  <a:pt x="396" y="5658"/>
                </a:cubicBezTo>
                <a:lnTo>
                  <a:pt x="2149" y="5658"/>
                </a:lnTo>
                <a:lnTo>
                  <a:pt x="2149" y="8194"/>
                </a:lnTo>
                <a:cubicBezTo>
                  <a:pt x="1462" y="8371"/>
                  <a:pt x="945" y="9002"/>
                  <a:pt x="945" y="9762"/>
                </a:cubicBezTo>
                <a:cubicBezTo>
                  <a:pt x="945" y="10113"/>
                  <a:pt x="1063" y="10453"/>
                  <a:pt x="1263" y="10719"/>
                </a:cubicBezTo>
                <a:cubicBezTo>
                  <a:pt x="513" y="11025"/>
                  <a:pt x="0" y="11749"/>
                  <a:pt x="0" y="12590"/>
                </a:cubicBezTo>
                <a:lnTo>
                  <a:pt x="0" y="13398"/>
                </a:lnTo>
                <a:cubicBezTo>
                  <a:pt x="0" y="13620"/>
                  <a:pt x="174" y="13805"/>
                  <a:pt x="396" y="13805"/>
                </a:cubicBezTo>
                <a:lnTo>
                  <a:pt x="4721" y="13805"/>
                </a:lnTo>
                <a:cubicBezTo>
                  <a:pt x="4943" y="13805"/>
                  <a:pt x="5120" y="13620"/>
                  <a:pt x="5120" y="13398"/>
                </a:cubicBezTo>
                <a:lnTo>
                  <a:pt x="5120" y="12590"/>
                </a:lnTo>
                <a:cubicBezTo>
                  <a:pt x="5120" y="12136"/>
                  <a:pt x="4968" y="11715"/>
                  <a:pt x="4710" y="11375"/>
                </a:cubicBezTo>
                <a:lnTo>
                  <a:pt x="9081" y="11375"/>
                </a:lnTo>
                <a:cubicBezTo>
                  <a:pt x="8837" y="11715"/>
                  <a:pt x="8685" y="12136"/>
                  <a:pt x="8685" y="12590"/>
                </a:cubicBezTo>
                <a:lnTo>
                  <a:pt x="8685" y="13398"/>
                </a:lnTo>
                <a:cubicBezTo>
                  <a:pt x="8685" y="13620"/>
                  <a:pt x="8859" y="13805"/>
                  <a:pt x="9081" y="13805"/>
                </a:cubicBezTo>
                <a:lnTo>
                  <a:pt x="13396" y="13805"/>
                </a:lnTo>
                <a:cubicBezTo>
                  <a:pt x="13617" y="13805"/>
                  <a:pt x="13805" y="13620"/>
                  <a:pt x="13805" y="13398"/>
                </a:cubicBezTo>
                <a:lnTo>
                  <a:pt x="13805" y="12590"/>
                </a:lnTo>
                <a:cubicBezTo>
                  <a:pt x="13805" y="11749"/>
                  <a:pt x="13278" y="11025"/>
                  <a:pt x="12543" y="10719"/>
                </a:cubicBezTo>
                <a:cubicBezTo>
                  <a:pt x="12739" y="10453"/>
                  <a:pt x="12857" y="10113"/>
                  <a:pt x="12857" y="9762"/>
                </a:cubicBezTo>
                <a:cubicBezTo>
                  <a:pt x="12857" y="9002"/>
                  <a:pt x="12344" y="8371"/>
                  <a:pt x="11642" y="8194"/>
                </a:cubicBezTo>
                <a:lnTo>
                  <a:pt x="11642" y="5658"/>
                </a:lnTo>
                <a:lnTo>
                  <a:pt x="13396" y="5658"/>
                </a:lnTo>
                <a:cubicBezTo>
                  <a:pt x="13617" y="5658"/>
                  <a:pt x="13805" y="5484"/>
                  <a:pt x="13805" y="5249"/>
                </a:cubicBezTo>
                <a:lnTo>
                  <a:pt x="13805" y="4444"/>
                </a:lnTo>
                <a:cubicBezTo>
                  <a:pt x="13805" y="3602"/>
                  <a:pt x="13278" y="2878"/>
                  <a:pt x="12543" y="2572"/>
                </a:cubicBezTo>
                <a:cubicBezTo>
                  <a:pt x="12753" y="2281"/>
                  <a:pt x="12879" y="1919"/>
                  <a:pt x="12857" y="1532"/>
                </a:cubicBezTo>
                <a:cubicBezTo>
                  <a:pt x="12809" y="679"/>
                  <a:pt x="12108" y="14"/>
                  <a:pt x="11266" y="3"/>
                </a:cubicBezTo>
                <a:cubicBezTo>
                  <a:pt x="11258" y="3"/>
                  <a:pt x="11249" y="3"/>
                  <a:pt x="11240" y="3"/>
                </a:cubicBezTo>
                <a:cubicBezTo>
                  <a:pt x="10341" y="3"/>
                  <a:pt x="9620" y="724"/>
                  <a:pt x="9620" y="1616"/>
                </a:cubicBezTo>
                <a:cubicBezTo>
                  <a:pt x="9620" y="1908"/>
                  <a:pt x="9701" y="2188"/>
                  <a:pt x="9841" y="2421"/>
                </a:cubicBezTo>
                <a:lnTo>
                  <a:pt x="3961" y="2421"/>
                </a:lnTo>
                <a:cubicBezTo>
                  <a:pt x="4113" y="2163"/>
                  <a:pt x="4183" y="1860"/>
                  <a:pt x="4172" y="1546"/>
                </a:cubicBezTo>
                <a:cubicBezTo>
                  <a:pt x="4138" y="715"/>
                  <a:pt x="3459" y="36"/>
                  <a:pt x="2629" y="3"/>
                </a:cubicBezTo>
                <a:cubicBezTo>
                  <a:pt x="2601" y="1"/>
                  <a:pt x="2573" y="1"/>
                  <a:pt x="254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0"/>
          <p:cNvSpPr txBox="1">
            <a:spLocks noGrp="1"/>
          </p:cNvSpPr>
          <p:nvPr>
            <p:ph type="title"/>
          </p:nvPr>
        </p:nvSpPr>
        <p:spPr>
          <a:xfrm>
            <a:off x="720000" y="4395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>
                <a:latin typeface="Raleway Black"/>
                <a:ea typeface="Raleway Black"/>
                <a:cs typeface="Raleway Black"/>
                <a:sym typeface="Raleway Black"/>
              </a:rPr>
              <a:t>Engineering Challenges</a:t>
            </a: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graphicFrame>
        <p:nvGraphicFramePr>
          <p:cNvPr id="954" name="Google Shape;954;p40"/>
          <p:cNvGraphicFramePr/>
          <p:nvPr>
            <p:extLst>
              <p:ext uri="{D42A27DB-BD31-4B8C-83A1-F6EECF244321}">
                <p14:modId xmlns:p14="http://schemas.microsoft.com/office/powerpoint/2010/main" val="38609307"/>
              </p:ext>
            </p:extLst>
          </p:nvPr>
        </p:nvGraphicFramePr>
        <p:xfrm>
          <a:off x="685800" y="1159328"/>
          <a:ext cx="7731416" cy="3020505"/>
        </p:xfrm>
        <a:graphic>
          <a:graphicData uri="http://schemas.openxmlformats.org/drawingml/2006/table">
            <a:tbl>
              <a:tblPr>
                <a:tableStyleId>{76E8C818-D3C4-4F39-B6FF-FC8132F1474B}</a:tableStyleId>
              </a:tblPr>
              <a:tblGrid>
                <a:gridCol w="2184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>
                          <a:solidFill>
                            <a:schemeClr val="accent3"/>
                          </a:solidFill>
                        </a:rPr>
                        <a:t>CHALLENGE</a:t>
                      </a:r>
                      <a:endParaRPr sz="1800" dirty="0">
                        <a:solidFill>
                          <a:schemeClr val="accent3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sym typeface="Raleway"/>
                        </a:rPr>
                        <a:t>SOLUTION</a:t>
                      </a:r>
                      <a:endParaRPr sz="1200" b="1">
                        <a:solidFill>
                          <a:schemeClr val="accent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sym typeface="Hanken Grotesk"/>
                        </a:rPr>
                        <a:t>Whisper language inaccuracies</a:t>
                      </a:r>
                      <a:endParaRPr sz="11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Language detection improvements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sym typeface="Hanken Grotesk"/>
                        </a:rPr>
                        <a:t>Footer contamination in scraped text</a:t>
                      </a:r>
                      <a:endParaRPr sz="11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Improved content extraction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sym typeface="Hanken Grotesk"/>
                        </a:rPr>
                        <a:t>Duplicate vector IDs</a:t>
                      </a:r>
                      <a:endParaRPr sz="11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Deterministic hashing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sym typeface="Hanken Grotesk"/>
                        </a:rPr>
                        <a:t>Uploaded document leakage</a:t>
                      </a:r>
                      <a:endParaRPr sz="11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3"/>
                          </a:solidFill>
                          <a:sym typeface="Hanken Grotesk"/>
                        </a:rPr>
                        <a:t>Session-based filtering</a:t>
                      </a:r>
                      <a:endParaRPr sz="100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 err="1">
                          <a:solidFill>
                            <a:schemeClr val="accent3"/>
                          </a:solidFill>
                          <a:sym typeface="Hanken Grotesk"/>
                        </a:rPr>
                        <a:t>Streamlit</a:t>
                      </a:r>
                      <a:r>
                        <a:rPr lang="en" sz="1100" dirty="0">
                          <a:solidFill>
                            <a:schemeClr val="accent3"/>
                          </a:solidFill>
                          <a:sym typeface="Hanken Grotesk"/>
                        </a:rPr>
                        <a:t> microphone limitation</a:t>
                      </a:r>
                      <a:endParaRPr sz="1100" b="1" dirty="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 err="1">
                          <a:solidFill>
                            <a:schemeClr val="accent3"/>
                          </a:solidFill>
                          <a:sym typeface="Hanken Grotesk"/>
                        </a:rPr>
                        <a:t>streamlit</a:t>
                      </a:r>
                      <a:r>
                        <a:rPr lang="en" sz="1000" dirty="0">
                          <a:solidFill>
                            <a:schemeClr val="accent3"/>
                          </a:solidFill>
                          <a:sym typeface="Hanken Grotesk"/>
                        </a:rPr>
                        <a:t>-mic-recorder</a:t>
                      </a:r>
                      <a:endParaRPr sz="1000" dirty="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sym typeface="Hanken Grotesk"/>
                        </a:rPr>
                        <a:t>Qwen3.5 reasoning latency</a:t>
                      </a:r>
                      <a:endParaRPr sz="1100" b="1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3"/>
                          </a:solidFill>
                          <a:sym typeface="Hanken Grotesk"/>
                        </a:rPr>
                        <a:t>Switched to Qwen2.5</a:t>
                      </a:r>
                      <a:endParaRPr sz="1000" dirty="0">
                        <a:solidFill>
                          <a:schemeClr val="accent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Grounded &amp; Accurate</a:t>
            </a:r>
            <a:endParaRPr/>
          </a:p>
        </p:txBody>
      </p:sp>
      <p:sp>
        <p:nvSpPr>
          <p:cNvPr id="795" name="Google Shape;79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Conclusion</a:t>
            </a:r>
            <a:endParaRPr/>
          </a:p>
        </p:txBody>
      </p:sp>
      <p:sp>
        <p:nvSpPr>
          <p:cNvPr id="796" name="Google Shape;796;p35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Delivered an end-to-end RAG system with voice, text, and document intelligence, running fully on-premises.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5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Understands Arabic, English, and Egyptian dialect across both voice and text input.</a:t>
            </a:r>
            <a:endParaRPr/>
          </a:p>
        </p:txBody>
      </p:sp>
      <p:sp>
        <p:nvSpPr>
          <p:cNvPr id="798" name="Google Shape;798;p35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answer is grounded in retrieved documents and backed by source citations.</a:t>
            </a:r>
            <a:endParaRPr/>
          </a:p>
        </p:txBody>
      </p:sp>
      <p:sp>
        <p:nvSpPr>
          <p:cNvPr id="799" name="Google Shape;799;p35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Dockerized deployment with a modular, scalable architecture ready for real-world use.</a:t>
            </a:r>
            <a:endParaRPr/>
          </a:p>
        </p:txBody>
      </p:sp>
      <p:sp>
        <p:nvSpPr>
          <p:cNvPr id="800" name="Google Shape;800;p35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Fully Functional</a:t>
            </a:r>
            <a:endParaRPr/>
          </a:p>
        </p:txBody>
      </p:sp>
      <p:sp>
        <p:nvSpPr>
          <p:cNvPr id="801" name="Google Shape;801;p35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Multilingual Support</a:t>
            </a:r>
            <a:endParaRPr/>
          </a:p>
        </p:txBody>
      </p:sp>
      <p:sp>
        <p:nvSpPr>
          <p:cNvPr id="802" name="Google Shape;802;p35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Production-Ready</a:t>
            </a:r>
            <a:endParaRPr/>
          </a:p>
        </p:txBody>
      </p:sp>
      <p:grpSp>
        <p:nvGrpSpPr>
          <p:cNvPr id="803" name="Google Shape;803;p35"/>
          <p:cNvGrpSpPr/>
          <p:nvPr/>
        </p:nvGrpSpPr>
        <p:grpSpPr>
          <a:xfrm>
            <a:off x="4628575" y="1401781"/>
            <a:ext cx="345125" cy="345150"/>
            <a:chOff x="997838" y="3797375"/>
            <a:chExt cx="345125" cy="345150"/>
          </a:xfrm>
        </p:grpSpPr>
        <p:sp>
          <p:nvSpPr>
            <p:cNvPr id="804" name="Google Shape;804;p35"/>
            <p:cNvSpPr/>
            <p:nvPr/>
          </p:nvSpPr>
          <p:spPr>
            <a:xfrm>
              <a:off x="997838" y="3797375"/>
              <a:ext cx="345125" cy="345150"/>
            </a:xfrm>
            <a:custGeom>
              <a:avLst/>
              <a:gdLst/>
              <a:ahLst/>
              <a:cxnLst/>
              <a:rect l="l" t="t" r="r" b="b"/>
              <a:pathLst>
                <a:path w="13805" h="13806" extrusionOk="0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1259638" y="381072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1259638" y="3908500"/>
              <a:ext cx="40700" cy="30325"/>
            </a:xfrm>
            <a:custGeom>
              <a:avLst/>
              <a:gdLst/>
              <a:ahLst/>
              <a:cxnLst/>
              <a:rect l="l" t="t" r="r" b="b"/>
              <a:pathLst>
                <a:path w="1628" h="1213" extrusionOk="0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1039913" y="38107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1039913" y="3908500"/>
              <a:ext cx="40625" cy="30325"/>
            </a:xfrm>
            <a:custGeom>
              <a:avLst/>
              <a:gdLst/>
              <a:ahLst/>
              <a:cxnLst/>
              <a:rect l="l" t="t" r="r" b="b"/>
              <a:pathLst>
                <a:path w="1625" h="1213" extrusionOk="0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09" name="Google Shape;809;p35"/>
          <p:cNvGrpSpPr/>
          <p:nvPr/>
        </p:nvGrpSpPr>
        <p:grpSpPr>
          <a:xfrm>
            <a:off x="4628575" y="2913438"/>
            <a:ext cx="345150" cy="345150"/>
            <a:chOff x="1696838" y="3797375"/>
            <a:chExt cx="345150" cy="345150"/>
          </a:xfrm>
        </p:grpSpPr>
        <p:sp>
          <p:nvSpPr>
            <p:cNvPr id="810" name="Google Shape;810;p35"/>
            <p:cNvSpPr/>
            <p:nvPr/>
          </p:nvSpPr>
          <p:spPr>
            <a:xfrm>
              <a:off x="1696838" y="3797375"/>
              <a:ext cx="345150" cy="345150"/>
            </a:xfrm>
            <a:custGeom>
              <a:avLst/>
              <a:gdLst/>
              <a:ahLst/>
              <a:cxnLst/>
              <a:rect l="l" t="t" r="r" b="b"/>
              <a:pathLst>
                <a:path w="13806" h="13806" extrusionOk="0">
                  <a:moveTo>
                    <a:pt x="5283" y="3241"/>
                  </a:moveTo>
                  <a:cubicBezTo>
                    <a:pt x="5951" y="3241"/>
                    <a:pt x="6498" y="3777"/>
                    <a:pt x="6498" y="4456"/>
                  </a:cubicBezTo>
                  <a:lnTo>
                    <a:pt x="6498" y="4585"/>
                  </a:lnTo>
                  <a:lnTo>
                    <a:pt x="6357" y="4585"/>
                  </a:lnTo>
                  <a:cubicBezTo>
                    <a:pt x="5693" y="4585"/>
                    <a:pt x="5143" y="4046"/>
                    <a:pt x="5143" y="3367"/>
                  </a:cubicBezTo>
                  <a:lnTo>
                    <a:pt x="5143" y="3241"/>
                  </a:lnTo>
                  <a:close/>
                  <a:moveTo>
                    <a:pt x="8649" y="3241"/>
                  </a:moveTo>
                  <a:lnTo>
                    <a:pt x="8649" y="3367"/>
                  </a:lnTo>
                  <a:cubicBezTo>
                    <a:pt x="8649" y="4046"/>
                    <a:pt x="8111" y="4585"/>
                    <a:pt x="7446" y="4585"/>
                  </a:cubicBezTo>
                  <a:lnTo>
                    <a:pt x="7306" y="4585"/>
                  </a:lnTo>
                  <a:lnTo>
                    <a:pt x="7306" y="4456"/>
                  </a:lnTo>
                  <a:cubicBezTo>
                    <a:pt x="7306" y="3777"/>
                    <a:pt x="7844" y="3241"/>
                    <a:pt x="8520" y="3241"/>
                  </a:cubicBezTo>
                  <a:close/>
                  <a:moveTo>
                    <a:pt x="8299" y="7283"/>
                  </a:moveTo>
                  <a:lnTo>
                    <a:pt x="7914" y="9166"/>
                  </a:lnTo>
                  <a:lnTo>
                    <a:pt x="5881" y="9166"/>
                  </a:lnTo>
                  <a:lnTo>
                    <a:pt x="5505" y="7283"/>
                  </a:lnTo>
                  <a:close/>
                  <a:moveTo>
                    <a:pt x="12857" y="809"/>
                  </a:moveTo>
                  <a:cubicBezTo>
                    <a:pt x="12939" y="809"/>
                    <a:pt x="12998" y="868"/>
                    <a:pt x="12998" y="949"/>
                  </a:cubicBezTo>
                  <a:lnTo>
                    <a:pt x="12998" y="9166"/>
                  </a:lnTo>
                  <a:lnTo>
                    <a:pt x="8742" y="9166"/>
                  </a:lnTo>
                  <a:lnTo>
                    <a:pt x="9118" y="7283"/>
                  </a:lnTo>
                  <a:lnTo>
                    <a:pt x="9317" y="7283"/>
                  </a:lnTo>
                  <a:cubicBezTo>
                    <a:pt x="9528" y="7283"/>
                    <a:pt x="9701" y="7132"/>
                    <a:pt x="9724" y="6922"/>
                  </a:cubicBezTo>
                  <a:cubicBezTo>
                    <a:pt x="9760" y="6677"/>
                    <a:pt x="9561" y="6478"/>
                    <a:pt x="9328" y="6478"/>
                  </a:cubicBezTo>
                  <a:lnTo>
                    <a:pt x="7306" y="6478"/>
                  </a:lnTo>
                  <a:lnTo>
                    <a:pt x="7306" y="5390"/>
                  </a:lnTo>
                  <a:lnTo>
                    <a:pt x="7446" y="5390"/>
                  </a:lnTo>
                  <a:cubicBezTo>
                    <a:pt x="8557" y="5390"/>
                    <a:pt x="9469" y="4489"/>
                    <a:pt x="9469" y="3367"/>
                  </a:cubicBezTo>
                  <a:lnTo>
                    <a:pt x="9469" y="2831"/>
                  </a:lnTo>
                  <a:cubicBezTo>
                    <a:pt x="9469" y="2610"/>
                    <a:pt x="9281" y="2433"/>
                    <a:pt x="9059" y="2433"/>
                  </a:cubicBezTo>
                  <a:lnTo>
                    <a:pt x="8520" y="2433"/>
                  </a:lnTo>
                  <a:cubicBezTo>
                    <a:pt x="7856" y="2433"/>
                    <a:pt x="7269" y="2750"/>
                    <a:pt x="6896" y="3241"/>
                  </a:cubicBezTo>
                  <a:cubicBezTo>
                    <a:pt x="6534" y="2750"/>
                    <a:pt x="5951" y="2433"/>
                    <a:pt x="5283" y="2433"/>
                  </a:cubicBezTo>
                  <a:lnTo>
                    <a:pt x="4744" y="2433"/>
                  </a:lnTo>
                  <a:cubicBezTo>
                    <a:pt x="4523" y="2433"/>
                    <a:pt x="4338" y="2610"/>
                    <a:pt x="4338" y="2831"/>
                  </a:cubicBezTo>
                  <a:lnTo>
                    <a:pt x="4338" y="3367"/>
                  </a:lnTo>
                  <a:cubicBezTo>
                    <a:pt x="4338" y="4489"/>
                    <a:pt x="5249" y="5390"/>
                    <a:pt x="6357" y="5390"/>
                  </a:cubicBezTo>
                  <a:lnTo>
                    <a:pt x="6498" y="5390"/>
                  </a:lnTo>
                  <a:lnTo>
                    <a:pt x="6498" y="6478"/>
                  </a:lnTo>
                  <a:lnTo>
                    <a:pt x="4489" y="6478"/>
                  </a:lnTo>
                  <a:cubicBezTo>
                    <a:pt x="4279" y="6478"/>
                    <a:pt x="4091" y="6630"/>
                    <a:pt x="4068" y="6829"/>
                  </a:cubicBezTo>
                  <a:cubicBezTo>
                    <a:pt x="4043" y="7073"/>
                    <a:pt x="4231" y="7283"/>
                    <a:pt x="4478" y="7283"/>
                  </a:cubicBezTo>
                  <a:lnTo>
                    <a:pt x="4688" y="7283"/>
                  </a:lnTo>
                  <a:lnTo>
                    <a:pt x="5061" y="9166"/>
                  </a:lnTo>
                  <a:lnTo>
                    <a:pt x="806" y="9166"/>
                  </a:lnTo>
                  <a:lnTo>
                    <a:pt x="806" y="949"/>
                  </a:lnTo>
                  <a:cubicBezTo>
                    <a:pt x="806" y="868"/>
                    <a:pt x="865" y="809"/>
                    <a:pt x="946" y="809"/>
                  </a:cubicBezTo>
                  <a:close/>
                  <a:moveTo>
                    <a:pt x="12998" y="9974"/>
                  </a:moveTo>
                  <a:lnTo>
                    <a:pt x="12998" y="10650"/>
                  </a:lnTo>
                  <a:cubicBezTo>
                    <a:pt x="12998" y="10720"/>
                    <a:pt x="12939" y="10790"/>
                    <a:pt x="12857" y="10790"/>
                  </a:cubicBezTo>
                  <a:lnTo>
                    <a:pt x="946" y="10790"/>
                  </a:lnTo>
                  <a:cubicBezTo>
                    <a:pt x="865" y="10790"/>
                    <a:pt x="806" y="10720"/>
                    <a:pt x="806" y="10650"/>
                  </a:cubicBezTo>
                  <a:lnTo>
                    <a:pt x="806" y="9974"/>
                  </a:lnTo>
                  <a:close/>
                  <a:moveTo>
                    <a:pt x="8206" y="11598"/>
                  </a:moveTo>
                  <a:lnTo>
                    <a:pt x="8546" y="13001"/>
                  </a:lnTo>
                  <a:lnTo>
                    <a:pt x="5261" y="13001"/>
                  </a:lnTo>
                  <a:lnTo>
                    <a:pt x="5600" y="11598"/>
                  </a:lnTo>
                  <a:close/>
                  <a:moveTo>
                    <a:pt x="946" y="1"/>
                  </a:moveTo>
                  <a:cubicBezTo>
                    <a:pt x="421" y="1"/>
                    <a:pt x="1" y="422"/>
                    <a:pt x="1" y="949"/>
                  </a:cubicBezTo>
                  <a:lnTo>
                    <a:pt x="1" y="10650"/>
                  </a:lnTo>
                  <a:cubicBezTo>
                    <a:pt x="1" y="11177"/>
                    <a:pt x="421" y="11598"/>
                    <a:pt x="946" y="11598"/>
                  </a:cubicBezTo>
                  <a:lnTo>
                    <a:pt x="4770" y="11598"/>
                  </a:lnTo>
                  <a:lnTo>
                    <a:pt x="4430" y="13001"/>
                  </a:lnTo>
                  <a:lnTo>
                    <a:pt x="3681" y="13001"/>
                  </a:lnTo>
                  <a:cubicBezTo>
                    <a:pt x="3471" y="13001"/>
                    <a:pt x="3286" y="13152"/>
                    <a:pt x="3260" y="13351"/>
                  </a:cubicBezTo>
                  <a:cubicBezTo>
                    <a:pt x="3238" y="13595"/>
                    <a:pt x="3426" y="13806"/>
                    <a:pt x="3670" y="13806"/>
                  </a:cubicBezTo>
                  <a:lnTo>
                    <a:pt x="10122" y="13806"/>
                  </a:lnTo>
                  <a:cubicBezTo>
                    <a:pt x="10333" y="13806"/>
                    <a:pt x="10521" y="13654"/>
                    <a:pt x="10543" y="13444"/>
                  </a:cubicBezTo>
                  <a:cubicBezTo>
                    <a:pt x="10565" y="13200"/>
                    <a:pt x="10380" y="13001"/>
                    <a:pt x="10133" y="13001"/>
                  </a:cubicBezTo>
                  <a:lnTo>
                    <a:pt x="9373" y="13001"/>
                  </a:lnTo>
                  <a:lnTo>
                    <a:pt x="9037" y="11598"/>
                  </a:lnTo>
                  <a:lnTo>
                    <a:pt x="12857" y="11598"/>
                  </a:lnTo>
                  <a:cubicBezTo>
                    <a:pt x="13385" y="11598"/>
                    <a:pt x="13806" y="11177"/>
                    <a:pt x="13806" y="10650"/>
                  </a:cubicBezTo>
                  <a:lnTo>
                    <a:pt x="13806" y="949"/>
                  </a:lnTo>
                  <a:cubicBezTo>
                    <a:pt x="13806" y="422"/>
                    <a:pt x="13385" y="1"/>
                    <a:pt x="128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1959838" y="3891775"/>
              <a:ext cx="41475" cy="20225"/>
            </a:xfrm>
            <a:custGeom>
              <a:avLst/>
              <a:gdLst/>
              <a:ahLst/>
              <a:cxnLst/>
              <a:rect l="l" t="t" r="r" b="b"/>
              <a:pathLst>
                <a:path w="1659" h="809" extrusionOk="0">
                  <a:moveTo>
                    <a:pt x="433" y="1"/>
                  </a:moveTo>
                  <a:cubicBezTo>
                    <a:pt x="233" y="1"/>
                    <a:pt x="45" y="152"/>
                    <a:pt x="23" y="363"/>
                  </a:cubicBezTo>
                  <a:cubicBezTo>
                    <a:pt x="1" y="598"/>
                    <a:pt x="186" y="809"/>
                    <a:pt x="421" y="809"/>
                  </a:cubicBezTo>
                  <a:lnTo>
                    <a:pt x="1227" y="809"/>
                  </a:lnTo>
                  <a:cubicBezTo>
                    <a:pt x="1426" y="809"/>
                    <a:pt x="1614" y="657"/>
                    <a:pt x="1636" y="447"/>
                  </a:cubicBezTo>
                  <a:cubicBezTo>
                    <a:pt x="1659" y="211"/>
                    <a:pt x="1473" y="1"/>
                    <a:pt x="1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1952188" y="3838075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1166" y="0"/>
                  </a:moveTo>
                  <a:cubicBezTo>
                    <a:pt x="1097" y="0"/>
                    <a:pt x="1026" y="18"/>
                    <a:pt x="960" y="56"/>
                  </a:cubicBezTo>
                  <a:lnTo>
                    <a:pt x="259" y="454"/>
                  </a:lnTo>
                  <a:cubicBezTo>
                    <a:pt x="60" y="572"/>
                    <a:pt x="1" y="816"/>
                    <a:pt x="107" y="1004"/>
                  </a:cubicBezTo>
                  <a:cubicBezTo>
                    <a:pt x="186" y="1138"/>
                    <a:pt x="322" y="1213"/>
                    <a:pt x="462" y="1213"/>
                  </a:cubicBezTo>
                  <a:cubicBezTo>
                    <a:pt x="532" y="1213"/>
                    <a:pt x="603" y="1195"/>
                    <a:pt x="668" y="1156"/>
                  </a:cubicBezTo>
                  <a:lnTo>
                    <a:pt x="1370" y="757"/>
                  </a:lnTo>
                  <a:cubicBezTo>
                    <a:pt x="1558" y="642"/>
                    <a:pt x="1628" y="395"/>
                    <a:pt x="1510" y="196"/>
                  </a:cubicBezTo>
                  <a:cubicBezTo>
                    <a:pt x="1439" y="72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1952188" y="3935650"/>
              <a:ext cx="40700" cy="30450"/>
            </a:xfrm>
            <a:custGeom>
              <a:avLst/>
              <a:gdLst/>
              <a:ahLst/>
              <a:cxnLst/>
              <a:rect l="l" t="t" r="r" b="b"/>
              <a:pathLst>
                <a:path w="1628" h="1218" extrusionOk="0">
                  <a:moveTo>
                    <a:pt x="462" y="1"/>
                  </a:moveTo>
                  <a:cubicBezTo>
                    <a:pt x="322" y="1"/>
                    <a:pt x="186" y="76"/>
                    <a:pt x="107" y="209"/>
                  </a:cubicBezTo>
                  <a:cubicBezTo>
                    <a:pt x="1" y="397"/>
                    <a:pt x="60" y="642"/>
                    <a:pt x="259" y="759"/>
                  </a:cubicBezTo>
                  <a:lnTo>
                    <a:pt x="960" y="1169"/>
                  </a:lnTo>
                  <a:cubicBezTo>
                    <a:pt x="1023" y="1202"/>
                    <a:pt x="1090" y="1217"/>
                    <a:pt x="1156" y="1217"/>
                  </a:cubicBezTo>
                  <a:cubicBezTo>
                    <a:pt x="1300" y="1217"/>
                    <a:pt x="1437" y="1144"/>
                    <a:pt x="1510" y="1017"/>
                  </a:cubicBezTo>
                  <a:cubicBezTo>
                    <a:pt x="1628" y="818"/>
                    <a:pt x="1558" y="571"/>
                    <a:pt x="1370" y="468"/>
                  </a:cubicBezTo>
                  <a:lnTo>
                    <a:pt x="668" y="58"/>
                  </a:lnTo>
                  <a:cubicBezTo>
                    <a:pt x="603" y="19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4" name="Google Shape;814;p35"/>
            <p:cNvSpPr/>
            <p:nvPr/>
          </p:nvSpPr>
          <p:spPr>
            <a:xfrm>
              <a:off x="1737438" y="3891775"/>
              <a:ext cx="41550" cy="20225"/>
            </a:xfrm>
            <a:custGeom>
              <a:avLst/>
              <a:gdLst/>
              <a:ahLst/>
              <a:cxnLst/>
              <a:rect l="l" t="t" r="r" b="b"/>
              <a:pathLst>
                <a:path w="1662" h="809" extrusionOk="0">
                  <a:moveTo>
                    <a:pt x="433" y="1"/>
                  </a:moveTo>
                  <a:cubicBezTo>
                    <a:pt x="223" y="1"/>
                    <a:pt x="49" y="152"/>
                    <a:pt x="23" y="363"/>
                  </a:cubicBezTo>
                  <a:cubicBezTo>
                    <a:pt x="1" y="598"/>
                    <a:pt x="189" y="809"/>
                    <a:pt x="422" y="809"/>
                  </a:cubicBezTo>
                  <a:lnTo>
                    <a:pt x="1227" y="809"/>
                  </a:lnTo>
                  <a:cubicBezTo>
                    <a:pt x="1474" y="809"/>
                    <a:pt x="1662" y="598"/>
                    <a:pt x="1636" y="363"/>
                  </a:cubicBezTo>
                  <a:cubicBezTo>
                    <a:pt x="1614" y="152"/>
                    <a:pt x="1426" y="1"/>
                    <a:pt x="1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1745938" y="3838075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59" y="0"/>
                  </a:moveTo>
                  <a:cubicBezTo>
                    <a:pt x="319" y="0"/>
                    <a:pt x="187" y="72"/>
                    <a:pt x="115" y="196"/>
                  </a:cubicBezTo>
                  <a:cubicBezTo>
                    <a:pt x="0" y="395"/>
                    <a:pt x="70" y="642"/>
                    <a:pt x="256" y="757"/>
                  </a:cubicBezTo>
                  <a:lnTo>
                    <a:pt x="957" y="1156"/>
                  </a:lnTo>
                  <a:cubicBezTo>
                    <a:pt x="1023" y="1195"/>
                    <a:pt x="1094" y="1213"/>
                    <a:pt x="1163" y="1213"/>
                  </a:cubicBezTo>
                  <a:cubicBezTo>
                    <a:pt x="1304" y="1213"/>
                    <a:pt x="1437" y="1138"/>
                    <a:pt x="1507" y="1004"/>
                  </a:cubicBezTo>
                  <a:cubicBezTo>
                    <a:pt x="1625" y="816"/>
                    <a:pt x="1555" y="572"/>
                    <a:pt x="1367" y="454"/>
                  </a:cubicBezTo>
                  <a:lnTo>
                    <a:pt x="665" y="56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1745938" y="3935650"/>
              <a:ext cx="40625" cy="30450"/>
            </a:xfrm>
            <a:custGeom>
              <a:avLst/>
              <a:gdLst/>
              <a:ahLst/>
              <a:cxnLst/>
              <a:rect l="l" t="t" r="r" b="b"/>
              <a:pathLst>
                <a:path w="1625" h="1218" extrusionOk="0">
                  <a:moveTo>
                    <a:pt x="1163" y="1"/>
                  </a:moveTo>
                  <a:cubicBezTo>
                    <a:pt x="1094" y="1"/>
                    <a:pt x="1023" y="19"/>
                    <a:pt x="957" y="58"/>
                  </a:cubicBezTo>
                  <a:lnTo>
                    <a:pt x="256" y="468"/>
                  </a:lnTo>
                  <a:cubicBezTo>
                    <a:pt x="70" y="571"/>
                    <a:pt x="0" y="818"/>
                    <a:pt x="115" y="1017"/>
                  </a:cubicBezTo>
                  <a:cubicBezTo>
                    <a:pt x="188" y="1144"/>
                    <a:pt x="326" y="1217"/>
                    <a:pt x="469" y="1217"/>
                  </a:cubicBezTo>
                  <a:cubicBezTo>
                    <a:pt x="535" y="1217"/>
                    <a:pt x="602" y="1202"/>
                    <a:pt x="665" y="1169"/>
                  </a:cubicBezTo>
                  <a:lnTo>
                    <a:pt x="1367" y="759"/>
                  </a:lnTo>
                  <a:cubicBezTo>
                    <a:pt x="1555" y="642"/>
                    <a:pt x="1625" y="397"/>
                    <a:pt x="1507" y="209"/>
                  </a:cubicBezTo>
                  <a:cubicBezTo>
                    <a:pt x="1437" y="76"/>
                    <a:pt x="1304" y="1"/>
                    <a:pt x="1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17" name="Google Shape;817;p35"/>
          <p:cNvGrpSpPr/>
          <p:nvPr/>
        </p:nvGrpSpPr>
        <p:grpSpPr>
          <a:xfrm>
            <a:off x="838188" y="2913425"/>
            <a:ext cx="305475" cy="345175"/>
            <a:chOff x="1017663" y="3243950"/>
            <a:chExt cx="305475" cy="345175"/>
          </a:xfrm>
        </p:grpSpPr>
        <p:sp>
          <p:nvSpPr>
            <p:cNvPr id="818" name="Google Shape;818;p35"/>
            <p:cNvSpPr/>
            <p:nvPr/>
          </p:nvSpPr>
          <p:spPr>
            <a:xfrm>
              <a:off x="12342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10656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1017663" y="3243950"/>
              <a:ext cx="305475" cy="345175"/>
            </a:xfrm>
            <a:custGeom>
              <a:avLst/>
              <a:gdLst/>
              <a:ahLst/>
              <a:cxnLst/>
              <a:rect l="l" t="t" r="r" b="b"/>
              <a:pathLst>
                <a:path w="12219" h="13807" extrusionOk="0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21" name="Google Shape;821;p35"/>
          <p:cNvGrpSpPr/>
          <p:nvPr/>
        </p:nvGrpSpPr>
        <p:grpSpPr>
          <a:xfrm>
            <a:off x="818363" y="1401644"/>
            <a:ext cx="345125" cy="345425"/>
            <a:chOff x="997838" y="2690475"/>
            <a:chExt cx="345125" cy="345425"/>
          </a:xfrm>
        </p:grpSpPr>
        <p:sp>
          <p:nvSpPr>
            <p:cNvPr id="822" name="Google Shape;822;p35"/>
            <p:cNvSpPr/>
            <p:nvPr/>
          </p:nvSpPr>
          <p:spPr>
            <a:xfrm>
              <a:off x="1267563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12599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12599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1031688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10401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10401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997838" y="2690475"/>
              <a:ext cx="345125" cy="345425"/>
            </a:xfrm>
            <a:custGeom>
              <a:avLst/>
              <a:gdLst/>
              <a:ahLst/>
              <a:cxnLst/>
              <a:rect l="l" t="t" r="r" b="b"/>
              <a:pathLst>
                <a:path w="13805" h="13817" extrusionOk="0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/>
          <p:cNvSpPr txBox="1">
            <a:spLocks noGrp="1"/>
          </p:cNvSpPr>
          <p:nvPr>
            <p:ph type="title"/>
          </p:nvPr>
        </p:nvSpPr>
        <p:spPr>
          <a:xfrm>
            <a:off x="1010041" y="1768293"/>
            <a:ext cx="3679040" cy="1546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800" dirty="0"/>
              <a:t>THANKS!</a:t>
            </a:r>
            <a:endParaRPr sz="4400" dirty="0"/>
          </a:p>
        </p:txBody>
      </p:sp>
      <p:sp>
        <p:nvSpPr>
          <p:cNvPr id="741" name="Google Shape;741;p32"/>
          <p:cNvSpPr/>
          <p:nvPr/>
        </p:nvSpPr>
        <p:spPr>
          <a:xfrm rot="-5400000">
            <a:off x="479688" y="2380938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43" name="Google Shape;743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52" name="Google Shape;752;p32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71624465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429</Words>
  <Application>Microsoft Office PowerPoint</Application>
  <PresentationFormat>On-screen Show (16:9)</PresentationFormat>
  <Paragraphs>88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Technology Market Research Pitch Deck by Slidesgo</vt:lpstr>
      <vt:lpstr>Slidesgo Final Pages</vt:lpstr>
      <vt:lpstr>Multilingual AI Assistant for Telecom Egypt</vt:lpstr>
      <vt:lpstr>TABLE OF CONTENTS</vt:lpstr>
      <vt:lpstr>Overview</vt:lpstr>
      <vt:lpstr>System Architecture</vt:lpstr>
      <vt:lpstr>End-to-End Pipeline</vt:lpstr>
      <vt:lpstr>Technology Stack</vt:lpstr>
      <vt:lpstr>On-Premise Deployment</vt:lpstr>
      <vt:lpstr>Engineering Challenges</vt:lpstr>
      <vt:lpstr>Results &amp; 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AI Assistant for Telecom Egypt</dc:title>
  <dc:creator>aisha nader</dc:creator>
  <cp:lastModifiedBy>omen</cp:lastModifiedBy>
  <cp:revision>60</cp:revision>
  <dcterms:modified xsi:type="dcterms:W3CDTF">2026-07-28T19:08:21Z</dcterms:modified>
</cp:coreProperties>
</file>